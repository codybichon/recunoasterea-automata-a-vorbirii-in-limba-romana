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74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17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BFEB6-A6D6-4737-BF9D-7696298678C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15C87-2162-4EAC-9F87-CE3C491A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53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C81-688B-4ECB-8287-F2A0C85ABC99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32BC-12DE-4213-9660-41E8A89F1D9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2C9-02F7-4E5A-A2FE-EF2CDA4CBAFA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6917-38CF-400A-878E-DE0255A41F2E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3D57-A624-472C-9940-A88DC566159B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F48A7-6383-4E1E-B09F-EC657B461D9C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5BF9-54FF-46BF-8F3B-EE14E952D637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025B-312D-4208-A506-C599F0E4382A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E2F5-ACBE-4E42-904E-0EA348F7DD46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EF2C-20F1-4455-878B-B3E5DA150212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C0AD-71E4-4C89-9F10-A40180069AD8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48256-9CDC-4F0D-B531-0B4207CEB194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" y="1289051"/>
            <a:ext cx="8496300" cy="939347"/>
          </a:xfrm>
        </p:spPr>
        <p:txBody>
          <a:bodyPr>
            <a:normAutofit/>
          </a:bodyPr>
          <a:lstStyle/>
          <a:p>
            <a:r>
              <a:rPr lang="en-US" sz="3600" b="1"/>
              <a:t>MEDII ȘI INSTRUMENTE DE PROGRAMARE</a:t>
            </a:r>
            <a:endParaRPr sz="3600" b="1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0076" y="3574755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/>
              <a:t>Anexă la Articolul: </a:t>
            </a:r>
            <a:r>
              <a:rPr lang="en-US" sz="2400" i="1"/>
              <a:t>„Inteligența </a:t>
            </a:r>
            <a:r>
              <a:rPr lang="en-US" sz="2400" i="1" smtClean="0"/>
              <a:t>artificială </a:t>
            </a:r>
            <a:r>
              <a:rPr lang="en-US" sz="2400" i="1"/>
              <a:t>și </a:t>
            </a:r>
            <a:r>
              <a:rPr lang="ro-RO" sz="2400" i="1"/>
              <a:t>î</a:t>
            </a:r>
            <a:r>
              <a:rPr lang="en-US" sz="2400" i="1" smtClean="0"/>
              <a:t>nvățarea automată</a:t>
            </a:r>
            <a:r>
              <a:rPr lang="en-US" sz="2400" i="1"/>
              <a:t>: Fundamente, </a:t>
            </a:r>
            <a:r>
              <a:rPr lang="en-US" sz="2400" i="1" smtClean="0"/>
              <a:t>algoritmi </a:t>
            </a:r>
            <a:r>
              <a:rPr lang="en-US" sz="2400" i="1"/>
              <a:t>și </a:t>
            </a:r>
            <a:r>
              <a:rPr lang="en-US" sz="2400" i="1" smtClean="0"/>
              <a:t>aplicații practice</a:t>
            </a:r>
            <a:r>
              <a:rPr lang="en-US" sz="2400" i="1"/>
              <a:t>”</a:t>
            </a:r>
            <a:endParaRPr lang="en-US" sz="2400" b="1">
              <a:effectLst/>
            </a:endParaRPr>
          </a:p>
        </p:txBody>
      </p:sp>
      <p:sp>
        <p:nvSpPr>
          <p:cNvPr id="10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0076" y="5014426"/>
            <a:ext cx="7772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Autor: Robu Florin Octavian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Coordonator: Toh</a:t>
            </a:r>
            <a:r>
              <a:rPr kumimoji="0" lang="ro-RO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ănean</a:t>
            </a:r>
            <a:r>
              <a:rPr kumimoji="0" lang="ro-RO" altLang="en-US" sz="240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</a:rPr>
              <a:t> Dragoș</a:t>
            </a:r>
            <a:endParaRPr kumimoji="0" lang="en-US" altLang="en-US" sz="24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Data: 11 decembrie 2025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9993" y="244578"/>
            <a:ext cx="58473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smtClean="0"/>
              <a:t>UNIVERSITATEA </a:t>
            </a:r>
            <a:r>
              <a:rPr lang="ro-RO" b="1"/>
              <a:t>TRANSILVANIA DIN BRAȘOV</a:t>
            </a:r>
            <a:endParaRPr lang="en-US" b="1"/>
          </a:p>
          <a:p>
            <a:r>
              <a:rPr lang="ro-RO" b="1"/>
              <a:t>FACULTATEA DE MATEMATICĂ ȘI INFORMATICĂ</a:t>
            </a:r>
            <a:endParaRPr lang="en-US" b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68" y="244579"/>
            <a:ext cx="609762" cy="554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771259" y="2431903"/>
            <a:ext cx="7772400" cy="939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mtClean="0"/>
              <a:t>APLICAȚIE PRACTICĂ: Recunoașterea Automată a Vorbirii în Limba Română (ASR)</a:t>
            </a:r>
            <a:endParaRPr lang="en-US" sz="3200" b="1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1. </a:t>
            </a:r>
            <a:r>
              <a:rPr lang="en-US" sz="3200"/>
              <a:t>Obiectivele </a:t>
            </a:r>
            <a:r>
              <a:rPr lang="ro-RO" sz="3200" smtClean="0"/>
              <a:t>p</a:t>
            </a:r>
            <a:r>
              <a:rPr lang="en-US" sz="3200" smtClean="0"/>
              <a:t>roiectului</a:t>
            </a:r>
            <a:endParaRPr lang="it-IT" sz="32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4031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Introducere</a:t>
            </a:r>
            <a:r>
              <a:rPr lang="ro-RO" sz="2000" smtClean="0"/>
              <a:t>: </a:t>
            </a:r>
            <a:r>
              <a:rPr lang="en-US" sz="2000" smtClean="0"/>
              <a:t>Implementarea </a:t>
            </a:r>
            <a:r>
              <a:rPr lang="en-US" sz="2000"/>
              <a:t>și evaluarea unui sistem ASR bazat pe modelul de ultimă generație </a:t>
            </a:r>
            <a:r>
              <a:rPr lang="en-US" sz="2000" b="1">
                <a:solidFill>
                  <a:srgbClr val="333399"/>
                </a:solidFill>
              </a:rPr>
              <a:t>MMS (Massively Multilingual Speech) dezvoltat de Facebook AI</a:t>
            </a:r>
            <a:r>
              <a:rPr lang="en-US" sz="2000" b="1" smtClean="0">
                <a:solidFill>
                  <a:srgbClr val="333399"/>
                </a:solidFill>
              </a:rPr>
              <a:t>.</a:t>
            </a:r>
            <a:endParaRPr lang="ro-RO" sz="2000" b="1" smtClean="0">
              <a:solidFill>
                <a:srgbClr val="333399"/>
              </a:solidFill>
            </a:endParaRPr>
          </a:p>
          <a:p>
            <a:pPr marL="0" indent="0" algn="just">
              <a:buNone/>
            </a:pPr>
            <a:endParaRPr lang="ro-RO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Obiectiv 1</a:t>
            </a:r>
            <a:r>
              <a:rPr lang="ro-RO" sz="2000" smtClean="0"/>
              <a:t>: </a:t>
            </a:r>
            <a:r>
              <a:rPr lang="en-US" sz="2000" b="1" smtClean="0">
                <a:solidFill>
                  <a:srgbClr val="333399"/>
                </a:solidFill>
              </a:rPr>
              <a:t>Testarea </a:t>
            </a:r>
            <a:r>
              <a:rPr lang="en-US" sz="2000" b="1">
                <a:solidFill>
                  <a:srgbClr val="333399"/>
                </a:solidFill>
              </a:rPr>
              <a:t>Performanței:</a:t>
            </a:r>
            <a:r>
              <a:rPr lang="en-US" sz="2000" b="1">
                <a:solidFill>
                  <a:srgbClr val="002060"/>
                </a:solidFill>
              </a:rPr>
              <a:t> </a:t>
            </a:r>
            <a:r>
              <a:rPr lang="en-US" sz="2000"/>
              <a:t>Măsurarea preciziei modelului adaptat pe limba română folosind metrica </a:t>
            </a:r>
            <a:r>
              <a:rPr lang="en-US" sz="2000" b="1">
                <a:solidFill>
                  <a:srgbClr val="333399"/>
                </a:solidFill>
              </a:rPr>
              <a:t>WER (Word Error Rate</a:t>
            </a:r>
            <a:r>
              <a:rPr lang="en-US" sz="2000" b="1" smtClean="0">
                <a:solidFill>
                  <a:srgbClr val="333399"/>
                </a:solidFill>
              </a:rPr>
              <a:t>)</a:t>
            </a:r>
            <a:r>
              <a:rPr lang="en-US" sz="2000" smtClean="0"/>
              <a:t>.</a:t>
            </a:r>
            <a:endParaRPr lang="ro-RO" sz="2000" smtClean="0"/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Obiectiv 2</a:t>
            </a:r>
            <a:r>
              <a:rPr lang="ro-RO" sz="2000" smtClean="0"/>
              <a:t>: </a:t>
            </a:r>
            <a:r>
              <a:rPr lang="en-US" sz="2000" b="1" smtClean="0">
                <a:solidFill>
                  <a:srgbClr val="333399"/>
                </a:solidFill>
              </a:rPr>
              <a:t>Demonstrație </a:t>
            </a:r>
            <a:r>
              <a:rPr lang="en-US" sz="2000" b="1">
                <a:solidFill>
                  <a:srgbClr val="333399"/>
                </a:solidFill>
              </a:rPr>
              <a:t>în Timp Real (Streaming)</a:t>
            </a:r>
            <a:r>
              <a:rPr lang="en-US" sz="2000"/>
              <a:t>: Punerea în funcțiune a unui sistem ASR funcțional și rapid, capabil să transcrie vorbirea din </a:t>
            </a:r>
            <a:r>
              <a:rPr lang="en-US" sz="2000" smtClean="0"/>
              <a:t>microfon.</a:t>
            </a:r>
            <a:endParaRPr lang="ro-RO" sz="2000"/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Obiectiv 3</a:t>
            </a:r>
            <a:r>
              <a:rPr lang="ro-RO" sz="2000" smtClean="0"/>
              <a:t>: </a:t>
            </a:r>
            <a:r>
              <a:rPr lang="en-US" sz="2000" b="1" smtClean="0">
                <a:solidFill>
                  <a:srgbClr val="333399"/>
                </a:solidFill>
              </a:rPr>
              <a:t>Dezvoltarea </a:t>
            </a:r>
            <a:r>
              <a:rPr lang="en-US" sz="2000" b="1">
                <a:solidFill>
                  <a:srgbClr val="333399"/>
                </a:solidFill>
              </a:rPr>
              <a:t>Logicii de </a:t>
            </a:r>
            <a:r>
              <a:rPr lang="ro-RO" sz="2000" b="1" smtClean="0">
                <a:solidFill>
                  <a:srgbClr val="333399"/>
                </a:solidFill>
              </a:rPr>
              <a:t>a</a:t>
            </a:r>
            <a:r>
              <a:rPr lang="en-US" sz="2000" b="1" smtClean="0">
                <a:solidFill>
                  <a:srgbClr val="333399"/>
                </a:solidFill>
              </a:rPr>
              <a:t>uto-</a:t>
            </a:r>
            <a:r>
              <a:rPr lang="ro-RO" sz="2000" b="1" smtClean="0">
                <a:solidFill>
                  <a:srgbClr val="333399"/>
                </a:solidFill>
              </a:rPr>
              <a:t>î</a:t>
            </a:r>
            <a:r>
              <a:rPr lang="en-US" sz="2000" b="1" smtClean="0">
                <a:solidFill>
                  <a:srgbClr val="333399"/>
                </a:solidFill>
              </a:rPr>
              <a:t>nvățare</a:t>
            </a:r>
            <a:r>
              <a:rPr lang="en-US" sz="2000"/>
              <a:t>: Implementarea unui mecanism autonom de auto-corecție lexicală, bazat pe un dicționar extern, pentru a îmbunătăți iterativ acuratețea.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mtClean="0">
                <a:latin typeface="+mn-lt"/>
              </a:rPr>
              <a:t>2.</a:t>
            </a:r>
            <a:r>
              <a:rPr lang="ro-RO" sz="3200" smtClean="0">
                <a:latin typeface="+mn-lt"/>
              </a:rPr>
              <a:t> </a:t>
            </a:r>
            <a:r>
              <a:rPr lang="pt-BR" sz="3200" smtClean="0"/>
              <a:t>Mediul </a:t>
            </a:r>
            <a:r>
              <a:rPr lang="pt-BR" sz="3200"/>
              <a:t>de </a:t>
            </a:r>
            <a:r>
              <a:rPr lang="ro-RO" sz="3200" smtClean="0"/>
              <a:t>d</a:t>
            </a:r>
            <a:r>
              <a:rPr lang="pt-BR" sz="3200" smtClean="0"/>
              <a:t>ezvoltare </a:t>
            </a:r>
            <a:r>
              <a:rPr lang="pt-BR" sz="3200"/>
              <a:t>și </a:t>
            </a:r>
            <a:r>
              <a:rPr lang="ro-RO" sz="3200" smtClean="0"/>
              <a:t>d</a:t>
            </a:r>
            <a:r>
              <a:rPr lang="pt-BR" sz="3200" smtClean="0"/>
              <a:t>ependințe</a:t>
            </a:r>
            <a:endParaRPr lang="en-US" sz="3200">
              <a:effectLst/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/>
              <a:t>IDE &amp; Mediu </a:t>
            </a:r>
            <a:r>
              <a:rPr lang="en-US" sz="2000" b="1" smtClean="0"/>
              <a:t>Virtual</a:t>
            </a:r>
            <a:r>
              <a:rPr lang="ro-RO" sz="2000" smtClean="0"/>
              <a:t>: </a:t>
            </a:r>
            <a:r>
              <a:rPr lang="en-US" sz="2000" b="1" smtClean="0">
                <a:solidFill>
                  <a:srgbClr val="333399"/>
                </a:solidFill>
              </a:rPr>
              <a:t>Visual </a:t>
            </a:r>
            <a:r>
              <a:rPr lang="en-US" sz="2000" b="1">
                <a:solidFill>
                  <a:srgbClr val="333399"/>
                </a:solidFill>
              </a:rPr>
              <a:t>Studio Code </a:t>
            </a:r>
            <a:r>
              <a:rPr lang="en-US" sz="2000"/>
              <a:t>(IDE) și uv (utilitarul de gestionare a mediului virtual</a:t>
            </a:r>
            <a:r>
              <a:rPr lang="en-US" sz="2000" smtClean="0"/>
              <a:t>)</a:t>
            </a:r>
            <a:r>
              <a:rPr lang="ro-RO" sz="2000"/>
              <a:t>;</a:t>
            </a:r>
            <a:endParaRPr lang="ro-RO" sz="2000" smtClean="0"/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Limbaj </a:t>
            </a:r>
            <a:r>
              <a:rPr lang="en-US" sz="2000" b="1"/>
              <a:t>&amp; </a:t>
            </a:r>
            <a:r>
              <a:rPr lang="en-US" sz="2000" b="1" smtClean="0"/>
              <a:t>Versiune</a:t>
            </a:r>
            <a:r>
              <a:rPr lang="ro-RO" sz="2000" smtClean="0"/>
              <a:t>:  </a:t>
            </a:r>
            <a:r>
              <a:rPr lang="en-US" sz="2000" b="1" smtClean="0">
                <a:solidFill>
                  <a:srgbClr val="333399"/>
                </a:solidFill>
              </a:rPr>
              <a:t>Python</a:t>
            </a:r>
            <a:r>
              <a:rPr lang="en-US" sz="2000" smtClean="0"/>
              <a:t> </a:t>
            </a:r>
            <a:r>
              <a:rPr lang="en-US" sz="2000"/>
              <a:t>(ver. 3.13.7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Librării</a:t>
            </a:r>
            <a:r>
              <a:rPr lang="ro-RO" sz="2000" smtClean="0"/>
              <a:t>: </a:t>
            </a:r>
            <a:r>
              <a:rPr lang="en-US" sz="2000" smtClean="0">
                <a:solidFill>
                  <a:srgbClr val="333399"/>
                </a:solidFill>
              </a:rPr>
              <a:t>torch</a:t>
            </a:r>
            <a:r>
              <a:rPr lang="en-US" sz="2000" smtClean="0"/>
              <a:t> </a:t>
            </a:r>
            <a:r>
              <a:rPr lang="en-US" sz="2000"/>
              <a:t>(2.9.1), </a:t>
            </a:r>
            <a:r>
              <a:rPr lang="en-US" sz="2000">
                <a:solidFill>
                  <a:srgbClr val="333399"/>
                </a:solidFill>
              </a:rPr>
              <a:t>transformers</a:t>
            </a:r>
            <a:r>
              <a:rPr lang="en-US" sz="2000"/>
              <a:t> (4.57.1), </a:t>
            </a:r>
            <a:r>
              <a:rPr lang="en-US" sz="2000">
                <a:solidFill>
                  <a:srgbClr val="333399"/>
                </a:solidFill>
              </a:rPr>
              <a:t>datasets</a:t>
            </a:r>
            <a:r>
              <a:rPr lang="en-US" sz="2000"/>
              <a:t>, </a:t>
            </a:r>
            <a:r>
              <a:rPr lang="en-US" sz="2000">
                <a:solidFill>
                  <a:srgbClr val="333399"/>
                </a:solidFill>
              </a:rPr>
              <a:t>evaluate</a:t>
            </a:r>
            <a:r>
              <a:rPr lang="en-US" sz="2000"/>
              <a:t>, </a:t>
            </a:r>
            <a:r>
              <a:rPr lang="en-US" sz="2000">
                <a:solidFill>
                  <a:srgbClr val="333399"/>
                </a:solidFill>
              </a:rPr>
              <a:t>peft</a:t>
            </a:r>
            <a:r>
              <a:rPr lang="en-US" sz="2000"/>
              <a:t> (utilizate pentru modelul MMS și evaluare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Instalare</a:t>
            </a:r>
            <a:r>
              <a:rPr lang="ro-RO" sz="2000" smtClean="0"/>
              <a:t>: </a:t>
            </a:r>
            <a:r>
              <a:rPr lang="en-US" sz="2000" smtClean="0"/>
              <a:t>Dependențele </a:t>
            </a:r>
            <a:r>
              <a:rPr lang="en-US" sz="2000"/>
              <a:t>sunt listate în </a:t>
            </a:r>
            <a:r>
              <a:rPr lang="ro-RO" sz="2000" smtClean="0"/>
              <a:t>„</a:t>
            </a:r>
            <a:r>
              <a:rPr lang="en-US" sz="2000" smtClean="0">
                <a:solidFill>
                  <a:srgbClr val="333399"/>
                </a:solidFill>
              </a:rPr>
              <a:t>requirements.txt</a:t>
            </a:r>
            <a:r>
              <a:rPr lang="ro-RO" sz="2000" smtClean="0"/>
              <a:t>”</a:t>
            </a:r>
            <a:r>
              <a:rPr lang="en-US" sz="2000" smtClean="0"/>
              <a:t> </a:t>
            </a:r>
            <a:r>
              <a:rPr lang="en-US" sz="2000"/>
              <a:t>și pot fi instalate automat cu </a:t>
            </a:r>
            <a:r>
              <a:rPr lang="en-US" sz="2000">
                <a:solidFill>
                  <a:srgbClr val="333399"/>
                </a:solidFill>
              </a:rPr>
              <a:t>uv run pip install -r requirements.txt</a:t>
            </a:r>
            <a:endParaRPr sz="2000">
              <a:solidFill>
                <a:srgbClr val="3333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>
                <a:latin typeface="+mn-lt"/>
              </a:rPr>
              <a:t>3. </a:t>
            </a:r>
            <a:r>
              <a:rPr lang="en-US" sz="3200"/>
              <a:t>Pregătirea </a:t>
            </a:r>
            <a:r>
              <a:rPr lang="ro-RO" sz="3200" smtClean="0"/>
              <a:t>b</a:t>
            </a:r>
            <a:r>
              <a:rPr lang="en-US" sz="3200" smtClean="0"/>
              <a:t>azelor </a:t>
            </a:r>
            <a:r>
              <a:rPr lang="en-US" sz="3200"/>
              <a:t>de </a:t>
            </a:r>
            <a:r>
              <a:rPr lang="ro-RO" sz="3200" smtClean="0"/>
              <a:t>d</a:t>
            </a:r>
            <a:r>
              <a:rPr lang="en-US" sz="3200" smtClean="0"/>
              <a:t>ate</a:t>
            </a:r>
            <a:r>
              <a:rPr lang="ro-RO" sz="3200" smtClean="0"/>
              <a:t>. </a:t>
            </a:r>
            <a:br>
              <a:rPr lang="ro-RO" sz="3200" smtClean="0"/>
            </a:br>
            <a:r>
              <a:rPr lang="en-US" sz="3200" smtClean="0"/>
              <a:t>Modelul </a:t>
            </a:r>
            <a:r>
              <a:rPr lang="en-US" sz="3200"/>
              <a:t>MMS: </a:t>
            </a:r>
            <a:r>
              <a:rPr lang="ro-RO" sz="3200" smtClean="0"/>
              <a:t>d</a:t>
            </a:r>
            <a:r>
              <a:rPr lang="en-US" sz="3200" smtClean="0"/>
              <a:t>escărcare </a:t>
            </a:r>
            <a:r>
              <a:rPr lang="en-US" sz="3200"/>
              <a:t>și </a:t>
            </a:r>
            <a:r>
              <a:rPr lang="ro-RO" sz="3200" smtClean="0"/>
              <a:t>a</a:t>
            </a:r>
            <a:r>
              <a:rPr lang="en-US" sz="3200" smtClean="0"/>
              <a:t>daptare </a:t>
            </a:r>
            <a:r>
              <a:rPr lang="ro-RO" sz="3200" smtClean="0"/>
              <a:t>l</a:t>
            </a:r>
            <a:r>
              <a:rPr lang="en-US" sz="3200" smtClean="0"/>
              <a:t>ingvistică</a:t>
            </a:r>
            <a:endParaRPr sz="3200"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5192" y="1824382"/>
            <a:ext cx="8229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smtClean="0"/>
              <a:t>Modelul de Bază</a:t>
            </a:r>
            <a:r>
              <a:rPr lang="ro-RO" altLang="en-US" sz="2000" b="1" smtClean="0"/>
              <a:t>:</a:t>
            </a:r>
            <a:r>
              <a:rPr lang="ro-RO" altLang="en-US" sz="2000"/>
              <a:t> </a:t>
            </a:r>
            <a:r>
              <a:rPr lang="en-US" altLang="en-US" sz="2000" b="1" smtClean="0">
                <a:solidFill>
                  <a:srgbClr val="333399"/>
                </a:solidFill>
              </a:rPr>
              <a:t>MMS-1b-all</a:t>
            </a:r>
            <a:r>
              <a:rPr lang="en-US" altLang="en-US" sz="2000" smtClean="0"/>
              <a:t> (Massively Multilingual Speech) de la Hugging Face (aprox. 3.59 GB)</a:t>
            </a:r>
            <a:r>
              <a:rPr lang="ro-RO" altLang="en-US" sz="2000"/>
              <a:t>;</a:t>
            </a:r>
            <a:endParaRPr lang="ro-RO" altLang="en-US" sz="2000" smtClean="0"/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2000" smtClean="0"/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smtClean="0"/>
              <a:t>Metoda de Obținere</a:t>
            </a:r>
            <a:r>
              <a:rPr lang="ro-RO" altLang="en-US" sz="2000" b="1" smtClean="0"/>
              <a:t>:</a:t>
            </a:r>
            <a:r>
              <a:rPr lang="ro-RO" altLang="en-US" sz="2000"/>
              <a:t> </a:t>
            </a:r>
            <a:r>
              <a:rPr lang="en-US" altLang="en-US" sz="2000" smtClean="0"/>
              <a:t>Descarcare automată via scriptul Python (download_and_save_MMS.py), folosind Hugging Face Token pentru autentificare</a:t>
            </a:r>
            <a:r>
              <a:rPr lang="ro-RO" altLang="en-US" sz="2000" smtClean="0"/>
              <a:t>;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2000" smtClean="0"/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smtClean="0"/>
              <a:t>Adaptare Lingvistică</a:t>
            </a:r>
            <a:r>
              <a:rPr lang="ro-RO" altLang="en-US" sz="2000" b="1" smtClean="0"/>
              <a:t>:</a:t>
            </a:r>
            <a:r>
              <a:rPr lang="ro-RO" altLang="en-US" sz="2000" smtClean="0"/>
              <a:t> </a:t>
            </a:r>
            <a:r>
              <a:rPr lang="en-US" altLang="en-US" sz="2000" smtClean="0"/>
              <a:t>Modelul </a:t>
            </a:r>
            <a:r>
              <a:rPr lang="en-US" altLang="en-US" sz="2000"/>
              <a:t>zero-shot este adaptat pentru </a:t>
            </a:r>
            <a:r>
              <a:rPr lang="ro-RO" altLang="en-US" sz="2000" smtClean="0"/>
              <a:t>limba r</a:t>
            </a:r>
            <a:r>
              <a:rPr lang="en-US" altLang="en-US" sz="2000" smtClean="0"/>
              <a:t>omână </a:t>
            </a:r>
            <a:r>
              <a:rPr lang="en-US" altLang="en-US" sz="2000"/>
              <a:t>prin încărcarea manuală a ponderilor specifice (fișierele </a:t>
            </a:r>
            <a:r>
              <a:rPr lang="en-US" altLang="en-US" sz="2000">
                <a:solidFill>
                  <a:srgbClr val="333399"/>
                </a:solidFill>
              </a:rPr>
              <a:t>adapter.ron.bin</a:t>
            </a:r>
            <a:r>
              <a:rPr lang="en-US" altLang="en-US" sz="2000"/>
              <a:t> și </a:t>
            </a:r>
            <a:r>
              <a:rPr lang="en-US" altLang="en-US" sz="2000">
                <a:solidFill>
                  <a:srgbClr val="333399"/>
                </a:solidFill>
              </a:rPr>
              <a:t>adapter.ron.safetensors</a:t>
            </a:r>
            <a:r>
              <a:rPr lang="en-US" altLang="en-US" sz="2000" smtClean="0"/>
              <a:t>)</a:t>
            </a:r>
            <a:r>
              <a:rPr lang="ro-RO" altLang="en-US" sz="2000" smtClean="0"/>
              <a:t>;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2000" smtClean="0"/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smtClean="0"/>
              <a:t>Locație</a:t>
            </a:r>
            <a:r>
              <a:rPr lang="ro-RO" altLang="en-US" sz="2000" b="1" smtClean="0"/>
              <a:t>:</a:t>
            </a:r>
            <a:r>
              <a:rPr lang="ro-RO" altLang="en-US" sz="2000" smtClean="0"/>
              <a:t> </a:t>
            </a:r>
            <a:r>
              <a:rPr lang="en-US" altLang="en-US" sz="2000" smtClean="0"/>
              <a:t>Modelul </a:t>
            </a:r>
            <a:r>
              <a:rPr lang="en-US" altLang="en-US" sz="2000"/>
              <a:t>este salvat local în directorul: ./mms-1b-flm-base.</a:t>
            </a:r>
            <a:endParaRPr kumimoji="0" lang="en-US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4. </a:t>
            </a:r>
            <a:r>
              <a:rPr lang="en-US" sz="3200"/>
              <a:t>Pregătirea </a:t>
            </a:r>
            <a:r>
              <a:rPr lang="ro-RO" sz="3200"/>
              <a:t>b</a:t>
            </a:r>
            <a:r>
              <a:rPr lang="en-US" sz="3200"/>
              <a:t>azelor de </a:t>
            </a:r>
            <a:r>
              <a:rPr lang="ro-RO" sz="3200"/>
              <a:t>d</a:t>
            </a:r>
            <a:r>
              <a:rPr lang="en-US" sz="3200"/>
              <a:t>ate</a:t>
            </a:r>
            <a:r>
              <a:rPr lang="ro-RO" sz="3200"/>
              <a:t>. </a:t>
            </a:r>
            <a:r>
              <a:rPr lang="ro-RO" sz="3200" smtClean="0"/>
              <a:t/>
            </a:r>
            <a:br>
              <a:rPr lang="ro-RO" sz="3200" smtClean="0"/>
            </a:br>
            <a:r>
              <a:rPr lang="en-US" sz="3200" smtClean="0"/>
              <a:t>Setul </a:t>
            </a:r>
            <a:r>
              <a:rPr lang="en-US" sz="3200"/>
              <a:t>de </a:t>
            </a:r>
            <a:r>
              <a:rPr lang="ro-RO" sz="3200" smtClean="0"/>
              <a:t>d</a:t>
            </a:r>
            <a:r>
              <a:rPr lang="en-US" sz="3200" smtClean="0"/>
              <a:t>ate </a:t>
            </a:r>
            <a:r>
              <a:rPr lang="en-US" sz="3200"/>
              <a:t>pentru </a:t>
            </a:r>
            <a:r>
              <a:rPr lang="ro-RO" sz="3200" smtClean="0"/>
              <a:t>t</a:t>
            </a:r>
            <a:r>
              <a:rPr lang="en-US" sz="3200" smtClean="0"/>
              <a:t>estare (</a:t>
            </a:r>
            <a:r>
              <a:rPr lang="ro-RO" sz="3200" smtClean="0"/>
              <a:t>e</a:t>
            </a:r>
            <a:r>
              <a:rPr lang="en-US" sz="3200" smtClean="0"/>
              <a:t>valuare</a:t>
            </a:r>
            <a:r>
              <a:rPr lang="en-US" sz="3200"/>
              <a:t>)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127380"/>
            <a:ext cx="8229600" cy="399878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b="1" smtClean="0"/>
              <a:t>Sursă</a:t>
            </a:r>
            <a:r>
              <a:rPr lang="ro-RO" sz="2000" smtClean="0"/>
              <a:t>: </a:t>
            </a:r>
            <a:r>
              <a:rPr lang="en-US" sz="2000" smtClean="0"/>
              <a:t>Setul </a:t>
            </a:r>
            <a:r>
              <a:rPr lang="en-US" sz="2000"/>
              <a:t>de date </a:t>
            </a:r>
            <a:r>
              <a:rPr lang="en-US" sz="2000" b="1">
                <a:solidFill>
                  <a:srgbClr val="333399"/>
                </a:solidFill>
              </a:rPr>
              <a:t>Common Voice Romanian 23.0</a:t>
            </a:r>
            <a:r>
              <a:rPr lang="en-US" sz="2000"/>
              <a:t> (corpus open-source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b="1" smtClean="0"/>
              <a:t>Metodologie</a:t>
            </a:r>
            <a:r>
              <a:rPr lang="ro-RO" sz="2000" smtClean="0"/>
              <a:t>: </a:t>
            </a:r>
            <a:r>
              <a:rPr lang="en-US" sz="2000" smtClean="0"/>
              <a:t>Scriptul </a:t>
            </a:r>
            <a:r>
              <a:rPr lang="en-US" sz="2000"/>
              <a:t>Python (setup_data_test.py) selectează un eșantion de </a:t>
            </a:r>
            <a:r>
              <a:rPr lang="en-US" sz="2000" b="1">
                <a:solidFill>
                  <a:srgbClr val="333399"/>
                </a:solidFill>
              </a:rPr>
              <a:t>1000 de înregistrări </a:t>
            </a:r>
            <a:r>
              <a:rPr lang="en-US" sz="2000"/>
              <a:t>pentru a servi ca set de </a:t>
            </a:r>
            <a:r>
              <a:rPr lang="en-US" sz="2000" smtClean="0"/>
              <a:t>test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b="1" smtClean="0"/>
              <a:t>Procesare</a:t>
            </a:r>
            <a:r>
              <a:rPr lang="ro-RO" sz="2000" smtClean="0"/>
              <a:t>: </a:t>
            </a:r>
            <a:r>
              <a:rPr lang="en-US" sz="2000" smtClean="0"/>
              <a:t>Se </a:t>
            </a:r>
            <a:r>
              <a:rPr lang="en-US" sz="2000"/>
              <a:t>aplică operațiuni de prelucrare (normalizare, eliminarea semnelor de punctuație, lowercasing) pe transcrierile de </a:t>
            </a:r>
            <a:r>
              <a:rPr lang="en-US" sz="2000" smtClean="0"/>
              <a:t>referință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b="1" smtClean="0"/>
              <a:t>Rezultat</a:t>
            </a:r>
            <a:r>
              <a:rPr lang="ro-RO" sz="2000" smtClean="0"/>
              <a:t>:	 </a:t>
            </a:r>
            <a:r>
              <a:rPr lang="en-US" sz="2000" smtClean="0"/>
              <a:t>Datele </a:t>
            </a:r>
            <a:r>
              <a:rPr lang="en-US" sz="2000"/>
              <a:t>sunt salvate în directorul local: </a:t>
            </a:r>
            <a:r>
              <a:rPr lang="en-US" sz="2000" smtClean="0"/>
              <a:t>test-data.arrow</a:t>
            </a:r>
            <a:r>
              <a:rPr lang="ro-RO" sz="2000" smtClean="0"/>
              <a:t>...:</a:t>
            </a:r>
            <a:endParaRPr lang="en-US" sz="2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5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5. </a:t>
            </a:r>
            <a:r>
              <a:rPr lang="en-US" sz="3200"/>
              <a:t>Performanța </a:t>
            </a:r>
            <a:r>
              <a:rPr lang="ro-RO" sz="3200" smtClean="0"/>
              <a:t>m</a:t>
            </a:r>
            <a:r>
              <a:rPr lang="en-US" sz="3200" smtClean="0"/>
              <a:t>odelului </a:t>
            </a:r>
            <a:r>
              <a:rPr lang="en-US" sz="3200"/>
              <a:t>MMS (Zero-Shot)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Metrica</a:t>
            </a:r>
            <a:r>
              <a:rPr lang="ro-RO" sz="2000" smtClean="0"/>
              <a:t>: </a:t>
            </a:r>
            <a:r>
              <a:rPr lang="en-US" sz="2000" smtClean="0"/>
              <a:t>WER </a:t>
            </a:r>
            <a:r>
              <a:rPr lang="en-US" sz="2000"/>
              <a:t>(Word Error Rate) - raportul dintre erorile totale (substituții, ștergeri, inserții) și numărul total de cuvinte de </a:t>
            </a:r>
            <a:r>
              <a:rPr lang="en-US" sz="2000" smtClean="0"/>
              <a:t>referință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Rularea Evaluări</a:t>
            </a:r>
            <a:r>
              <a:rPr lang="en-US" sz="2000" smtClean="0"/>
              <a:t>i</a:t>
            </a:r>
            <a:r>
              <a:rPr lang="ro-RO" sz="2000" smtClean="0"/>
              <a:t>: </a:t>
            </a:r>
            <a:r>
              <a:rPr lang="en-US" sz="2000" smtClean="0"/>
              <a:t>Scriptul </a:t>
            </a:r>
            <a:r>
              <a:rPr lang="en-US" sz="2000"/>
              <a:t>model_mms_zeroshot.py rulează predictii pe cele 1000 de eșantioane de </a:t>
            </a:r>
            <a:r>
              <a:rPr lang="en-US" sz="2000" smtClean="0"/>
              <a:t>test</a:t>
            </a:r>
            <a:r>
              <a:rPr lang="ro-RO" sz="2000"/>
              <a:t>;</a:t>
            </a:r>
            <a:endParaRPr lang="ro-RO" sz="2000" smtClean="0"/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Rezultat Cheie</a:t>
            </a:r>
            <a:r>
              <a:rPr lang="ro-RO" sz="2000" smtClean="0"/>
              <a:t>: </a:t>
            </a:r>
            <a:r>
              <a:rPr lang="en-US" sz="2000" b="1" smtClean="0">
                <a:solidFill>
                  <a:srgbClr val="333399"/>
                </a:solidFill>
              </a:rPr>
              <a:t>WER</a:t>
            </a:r>
            <a:r>
              <a:rPr lang="en-US" sz="2000" smtClean="0"/>
              <a:t> </a:t>
            </a:r>
            <a:r>
              <a:rPr lang="en-US" sz="2000"/>
              <a:t>(Word Error Rate): </a:t>
            </a:r>
            <a:r>
              <a:rPr lang="en-US" sz="2000" b="1">
                <a:solidFill>
                  <a:srgbClr val="333399"/>
                </a:solidFill>
              </a:rPr>
              <a:t>7.18</a:t>
            </a:r>
            <a:r>
              <a:rPr lang="en-US" sz="2000" b="1" smtClean="0">
                <a:solidFill>
                  <a:srgbClr val="333399"/>
                </a:solidFill>
              </a:rPr>
              <a:t>%</a:t>
            </a:r>
            <a:r>
              <a:rPr lang="ro-RO" sz="2000" smtClean="0">
                <a:solidFill>
                  <a:srgbClr val="333399"/>
                </a:solidFill>
              </a:rPr>
              <a:t>;</a:t>
            </a:r>
          </a:p>
          <a:p>
            <a:pPr marL="0" indent="0" algn="just">
              <a:buNone/>
            </a:pPr>
            <a:endParaRPr lang="ro-RO" sz="2000" b="1" smtClean="0">
              <a:solidFill>
                <a:srgbClr val="333399"/>
              </a:solidFill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Timp </a:t>
            </a:r>
            <a:r>
              <a:rPr lang="en-US" sz="2000" b="1"/>
              <a:t>de </a:t>
            </a:r>
            <a:r>
              <a:rPr lang="en-US" sz="2000" b="1" smtClean="0"/>
              <a:t>Rulare</a:t>
            </a:r>
            <a:r>
              <a:rPr lang="ro-RO" sz="2000" smtClean="0"/>
              <a:t>: </a:t>
            </a:r>
            <a:r>
              <a:rPr lang="en-US" sz="2000" smtClean="0"/>
              <a:t>Aproximativ </a:t>
            </a:r>
            <a:r>
              <a:rPr lang="en-US" sz="2000" smtClean="0"/>
              <a:t>36 </a:t>
            </a:r>
            <a:r>
              <a:rPr lang="en-US" sz="2000"/>
              <a:t>de minute (pe dispozitiv CPU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Concluzie</a:t>
            </a:r>
            <a:r>
              <a:rPr lang="ro-RO" sz="2000" smtClean="0"/>
              <a:t>: </a:t>
            </a:r>
            <a:r>
              <a:rPr lang="en-US" sz="2000" smtClean="0"/>
              <a:t>Rezultatul </a:t>
            </a:r>
            <a:r>
              <a:rPr lang="en-US" sz="2000"/>
              <a:t>este considerat foarte competitiv și demonstrează eficacitatea modelului MMS doar prin aplicarea modulului de ajustare lingvistică (fără fine-tuning suplimentar).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8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6. </a:t>
            </a:r>
            <a:r>
              <a:rPr lang="en-US" sz="3200"/>
              <a:t>Demonstrația ASR în </a:t>
            </a:r>
            <a:r>
              <a:rPr lang="ro-RO" sz="3200" smtClean="0"/>
              <a:t>s</a:t>
            </a:r>
            <a:r>
              <a:rPr lang="en-US" sz="3200" smtClean="0"/>
              <a:t>treaming (</a:t>
            </a:r>
            <a:r>
              <a:rPr lang="ro-RO" sz="3200" smtClean="0"/>
              <a:t>m</a:t>
            </a:r>
            <a:r>
              <a:rPr lang="en-US" sz="3200" smtClean="0"/>
              <a:t>icrofon</a:t>
            </a:r>
            <a:r>
              <a:rPr lang="en-US" sz="3200"/>
              <a:t>)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88841"/>
            <a:ext cx="8229600" cy="443732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Scop</a:t>
            </a:r>
            <a:r>
              <a:rPr lang="ro-RO" sz="2000" smtClean="0"/>
              <a:t>: </a:t>
            </a:r>
            <a:r>
              <a:rPr lang="en-US" sz="2000" smtClean="0"/>
              <a:t>Demonstrarea </a:t>
            </a:r>
            <a:r>
              <a:rPr lang="en-US" sz="2000"/>
              <a:t>utilității practice a modelului pentru transcriere vocală imediată (zero-shot, viteză superioară dactilografierii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Metodologie</a:t>
            </a:r>
            <a:r>
              <a:rPr lang="ro-RO" sz="2000" smtClean="0"/>
              <a:t>: </a:t>
            </a:r>
            <a:r>
              <a:rPr lang="en-US" sz="2000" smtClean="0"/>
              <a:t>Utilizarea </a:t>
            </a:r>
            <a:r>
              <a:rPr lang="en-US" sz="2000"/>
              <a:t>unui </a:t>
            </a:r>
            <a:r>
              <a:rPr lang="en-US" sz="2000" b="1">
                <a:solidFill>
                  <a:srgbClr val="333399"/>
                </a:solidFill>
              </a:rPr>
              <a:t>ASR Pipeline </a:t>
            </a:r>
            <a:r>
              <a:rPr lang="en-US" sz="2000"/>
              <a:t>din librăria </a:t>
            </a:r>
            <a:r>
              <a:rPr lang="en-US" sz="2000" smtClean="0"/>
              <a:t>transformers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Streaming</a:t>
            </a:r>
            <a:r>
              <a:rPr lang="ro-RO" sz="2000" smtClean="0"/>
              <a:t>: </a:t>
            </a:r>
            <a:r>
              <a:rPr lang="en-US" sz="2000" smtClean="0"/>
              <a:t>Procesarea </a:t>
            </a:r>
            <a:r>
              <a:rPr lang="en-US" sz="2000"/>
              <a:t>fluxului audio în fragmente (chunks) de </a:t>
            </a:r>
            <a:r>
              <a:rPr lang="en-US" sz="2000" b="1">
                <a:solidFill>
                  <a:srgbClr val="333399"/>
                </a:solidFill>
              </a:rPr>
              <a:t>3 secunde </a:t>
            </a:r>
            <a:r>
              <a:rPr lang="en-US" sz="2000"/>
              <a:t>(CHUNK_SIZE_MS = 3000) pentru a echilibra latența cu contextul necesar </a:t>
            </a:r>
            <a:r>
              <a:rPr lang="en-US" sz="2000" smtClean="0"/>
              <a:t>predicției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Rezultat</a:t>
            </a:r>
            <a:r>
              <a:rPr lang="ro-RO" sz="2000" smtClean="0"/>
              <a:t>: </a:t>
            </a:r>
            <a:r>
              <a:rPr lang="en-US" sz="2000" smtClean="0"/>
              <a:t>Sistemul </a:t>
            </a:r>
            <a:r>
              <a:rPr lang="en-US" sz="2000"/>
              <a:t>validează conceptul de ASR instantaneu capabil să proceseze fluxul audio continuu (deși pot apărea erori specifice vorbirii naturale).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5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smtClean="0"/>
              <a:t>7. </a:t>
            </a:r>
            <a:r>
              <a:rPr lang="en-US" sz="2800"/>
              <a:t>Îmbunătățirea </a:t>
            </a:r>
            <a:r>
              <a:rPr lang="ro-RO" sz="2800" smtClean="0"/>
              <a:t>m</a:t>
            </a:r>
            <a:r>
              <a:rPr lang="en-US" sz="2800" smtClean="0"/>
              <a:t>odelului</a:t>
            </a:r>
            <a:r>
              <a:rPr lang="en-US" sz="2800"/>
              <a:t>: </a:t>
            </a:r>
            <a:r>
              <a:rPr lang="ro-RO" sz="2800" smtClean="0"/>
              <a:t>a</a:t>
            </a:r>
            <a:r>
              <a:rPr lang="en-US" sz="2800" smtClean="0"/>
              <a:t>uto-</a:t>
            </a:r>
            <a:r>
              <a:rPr lang="ro-RO" sz="2800" smtClean="0"/>
              <a:t>î</a:t>
            </a:r>
            <a:r>
              <a:rPr lang="en-US" sz="2800" smtClean="0"/>
              <a:t>nvățare </a:t>
            </a:r>
            <a:r>
              <a:rPr lang="ro-RO" sz="2800" smtClean="0"/>
              <a:t>l</a:t>
            </a:r>
            <a:r>
              <a:rPr lang="en-US" sz="2800" smtClean="0"/>
              <a:t>exicală</a:t>
            </a:r>
            <a:endParaRPr lang="en-US" sz="2800" b="1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Scop</a:t>
            </a:r>
            <a:r>
              <a:rPr lang="ro-RO" sz="2000" smtClean="0"/>
              <a:t>: </a:t>
            </a:r>
            <a:r>
              <a:rPr lang="en-US" sz="2000" smtClean="0"/>
              <a:t>Crearea </a:t>
            </a:r>
            <a:r>
              <a:rPr lang="en-US" sz="2000"/>
              <a:t>unui mecanism inteligent care </a:t>
            </a:r>
            <a:r>
              <a:rPr lang="en-US" sz="2000" b="1">
                <a:solidFill>
                  <a:srgbClr val="333399"/>
                </a:solidFill>
              </a:rPr>
              <a:t>să învețe din propriile greșeli </a:t>
            </a:r>
            <a:r>
              <a:rPr lang="en-US" sz="2000"/>
              <a:t>ale ASR-ului, fără intervenție </a:t>
            </a:r>
            <a:r>
              <a:rPr lang="en-US" sz="2000" smtClean="0"/>
              <a:t>umană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Dicționar Extern</a:t>
            </a:r>
            <a:r>
              <a:rPr lang="ro-RO" sz="2000" smtClean="0"/>
              <a:t>: </a:t>
            </a:r>
            <a:r>
              <a:rPr lang="en-US" sz="2000" smtClean="0"/>
              <a:t>Dicționar </a:t>
            </a:r>
            <a:r>
              <a:rPr lang="en-US" sz="2000"/>
              <a:t>exhaustiv al limbii române: </a:t>
            </a:r>
            <a:r>
              <a:rPr lang="en-US" sz="2000" b="1">
                <a:solidFill>
                  <a:srgbClr val="333399"/>
                </a:solidFill>
              </a:rPr>
              <a:t>706.463</a:t>
            </a:r>
            <a:r>
              <a:rPr lang="en-US" sz="2000"/>
              <a:t> de forme flexionare (agregare date DEXonline și corpus LOC-5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Logica </a:t>
            </a:r>
            <a:r>
              <a:rPr lang="en-US" sz="2000" b="1"/>
              <a:t>de </a:t>
            </a:r>
            <a:r>
              <a:rPr lang="en-US" sz="2000" b="1" smtClean="0"/>
              <a:t>Corecție</a:t>
            </a:r>
            <a:r>
              <a:rPr lang="ro-RO" sz="2000" smtClean="0"/>
              <a:t>: </a:t>
            </a:r>
            <a:r>
              <a:rPr lang="en-US" sz="2000" smtClean="0"/>
              <a:t>Sistemul </a:t>
            </a:r>
            <a:r>
              <a:rPr lang="en-US" sz="2000"/>
              <a:t>învață o corecție doar dacă cuvântul greșit prezis de ASR (wrong) nu se găsește în dicționarul românesc (este invalid lexical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smtClean="0"/>
              <a:t>Blocare</a:t>
            </a:r>
            <a:r>
              <a:rPr lang="ro-RO" sz="2000" smtClean="0"/>
              <a:t>: </a:t>
            </a:r>
            <a:r>
              <a:rPr lang="en-US" sz="2000" smtClean="0"/>
              <a:t>Se </a:t>
            </a:r>
            <a:r>
              <a:rPr lang="en-US" sz="2000"/>
              <a:t>ignoră substituțiile unde cuvântul greșit (wrong) este deja un cuvânt românesc valid.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33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8. </a:t>
            </a:r>
            <a:r>
              <a:rPr lang="en-US" sz="3200"/>
              <a:t>Impactul Corecției Lexicale (WER Final)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Metodologie</a:t>
            </a:r>
            <a:r>
              <a:rPr lang="ro-RO" sz="2000" smtClean="0"/>
              <a:t>: </a:t>
            </a:r>
            <a:r>
              <a:rPr lang="en-US" sz="2000" smtClean="0"/>
              <a:t>Rularea </a:t>
            </a:r>
            <a:r>
              <a:rPr lang="en-US" sz="2000"/>
              <a:t>scriptului </a:t>
            </a:r>
            <a:r>
              <a:rPr lang="ro-RO" sz="2000" smtClean="0"/>
              <a:t>„</a:t>
            </a:r>
            <a:r>
              <a:rPr lang="en-US" sz="2000" smtClean="0">
                <a:solidFill>
                  <a:srgbClr val="333399"/>
                </a:solidFill>
              </a:rPr>
              <a:t>model_mms_autolearn.py</a:t>
            </a:r>
            <a:r>
              <a:rPr lang="ro-RO" sz="2000" smtClean="0">
                <a:solidFill>
                  <a:srgbClr val="333399"/>
                </a:solidFill>
              </a:rPr>
              <a:t>”</a:t>
            </a:r>
            <a:r>
              <a:rPr lang="en-US" sz="2000" smtClean="0"/>
              <a:t> </a:t>
            </a:r>
            <a:r>
              <a:rPr lang="en-US" sz="2000"/>
              <a:t>pe cele 1000 de eșantioane de </a:t>
            </a:r>
            <a:r>
              <a:rPr lang="en-US" sz="2000" smtClean="0"/>
              <a:t>test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Output</a:t>
            </a:r>
            <a:r>
              <a:rPr lang="ro-RO" sz="2000" smtClean="0"/>
              <a:t>: </a:t>
            </a:r>
            <a:r>
              <a:rPr lang="en-US" sz="2000" smtClean="0"/>
              <a:t>Generarea </a:t>
            </a:r>
            <a:r>
              <a:rPr lang="en-US" sz="2000"/>
              <a:t>fișierelor </a:t>
            </a:r>
            <a:r>
              <a:rPr lang="ro-RO" sz="2000" smtClean="0"/>
              <a:t>„</a:t>
            </a:r>
            <a:r>
              <a:rPr lang="en-US" sz="2000" smtClean="0">
                <a:solidFill>
                  <a:srgbClr val="333399"/>
                </a:solidFill>
              </a:rPr>
              <a:t>corrections.json</a:t>
            </a:r>
            <a:r>
              <a:rPr lang="ro-RO" sz="2000" smtClean="0"/>
              <a:t>”</a:t>
            </a:r>
            <a:r>
              <a:rPr lang="en-US" sz="2000" smtClean="0"/>
              <a:t> </a:t>
            </a:r>
            <a:r>
              <a:rPr lang="en-US" sz="2000"/>
              <a:t>și </a:t>
            </a:r>
            <a:r>
              <a:rPr lang="ro-RO" sz="2000" smtClean="0"/>
              <a:t>„</a:t>
            </a:r>
            <a:r>
              <a:rPr lang="en-US" sz="2000" smtClean="0">
                <a:solidFill>
                  <a:srgbClr val="333399"/>
                </a:solidFill>
              </a:rPr>
              <a:t>autolearn_log.txt</a:t>
            </a:r>
            <a:r>
              <a:rPr lang="ro-RO" sz="2000" smtClean="0"/>
              <a:t>”</a:t>
            </a:r>
            <a:r>
              <a:rPr lang="en-US" sz="2000" smtClean="0"/>
              <a:t> </a:t>
            </a:r>
            <a:r>
              <a:rPr lang="en-US" sz="2000"/>
              <a:t>care stochează și aplică corecțiile </a:t>
            </a:r>
            <a:r>
              <a:rPr lang="en-US" sz="2000" smtClean="0"/>
              <a:t>învățate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Rezultat </a:t>
            </a:r>
            <a:r>
              <a:rPr lang="ro-RO" sz="2000" b="1" smtClean="0"/>
              <a:t>inițial</a:t>
            </a:r>
            <a:r>
              <a:rPr lang="ro-RO" sz="2000" smtClean="0"/>
              <a:t>: </a:t>
            </a:r>
            <a:r>
              <a:rPr lang="en-US" sz="2000" smtClean="0"/>
              <a:t>WER </a:t>
            </a:r>
            <a:r>
              <a:rPr lang="en-US" sz="2000"/>
              <a:t>inițial: </a:t>
            </a:r>
            <a:r>
              <a:rPr lang="en-US" sz="2000" b="1">
                <a:solidFill>
                  <a:srgbClr val="333399"/>
                </a:solidFill>
              </a:rPr>
              <a:t>7.18</a:t>
            </a:r>
            <a:r>
              <a:rPr lang="en-US" sz="2000" b="1" smtClean="0">
                <a:solidFill>
                  <a:srgbClr val="333399"/>
                </a:solidFill>
              </a:rPr>
              <a:t>%</a:t>
            </a:r>
            <a:r>
              <a:rPr lang="ro-RO" sz="2000" smtClean="0"/>
              <a:t>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Rezultat </a:t>
            </a:r>
            <a:r>
              <a:rPr lang="ro-RO" sz="2000" b="1" smtClean="0"/>
              <a:t>final</a:t>
            </a:r>
            <a:r>
              <a:rPr lang="ro-RO" sz="2000" smtClean="0"/>
              <a:t>: </a:t>
            </a:r>
            <a:r>
              <a:rPr lang="en-US" sz="2000" smtClean="0"/>
              <a:t>WER </a:t>
            </a:r>
            <a:r>
              <a:rPr lang="en-US" sz="2000"/>
              <a:t>(post-corecție): </a:t>
            </a:r>
            <a:r>
              <a:rPr lang="en-US" sz="2000" b="1" smtClean="0">
                <a:solidFill>
                  <a:srgbClr val="333399"/>
                </a:solidFill>
              </a:rPr>
              <a:t>5.89%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Impact</a:t>
            </a:r>
            <a:r>
              <a:rPr lang="ro-RO" sz="2000" smtClean="0"/>
              <a:t>: </a:t>
            </a:r>
            <a:r>
              <a:rPr lang="en-US" sz="2000" smtClean="0"/>
              <a:t>Demonstrarea unei </a:t>
            </a:r>
            <a:r>
              <a:rPr lang="en-US" sz="2000" b="1" smtClean="0">
                <a:solidFill>
                  <a:srgbClr val="333399"/>
                </a:solidFill>
              </a:rPr>
              <a:t>reduceri</a:t>
            </a:r>
            <a:r>
              <a:rPr lang="en-US" sz="2000" smtClean="0"/>
              <a:t> a </a:t>
            </a:r>
            <a:r>
              <a:rPr lang="ro-RO" sz="2000" smtClean="0"/>
              <a:t>WER</a:t>
            </a:r>
            <a:r>
              <a:rPr lang="en-US" sz="2000" smtClean="0"/>
              <a:t>, validând mecanismul autonom de corecție ca o metodă eficientă și necostisitoare de îmbunătățire post-procesare.</a:t>
            </a:r>
            <a:endParaRPr lang="en-US" sz="2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99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9. </a:t>
            </a:r>
            <a:r>
              <a:rPr lang="en-US" sz="3200"/>
              <a:t>Concluzii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199" y="1614196"/>
            <a:ext cx="8332237" cy="4511967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/>
              <a:t>Model </a:t>
            </a:r>
            <a:r>
              <a:rPr lang="en-US" sz="2000" b="1" smtClean="0"/>
              <a:t>MMS</a:t>
            </a:r>
            <a:r>
              <a:rPr lang="ro-RO" sz="2000" smtClean="0"/>
              <a:t>: </a:t>
            </a:r>
            <a:r>
              <a:rPr lang="en-US" sz="2000" smtClean="0"/>
              <a:t>Modelul </a:t>
            </a:r>
            <a:r>
              <a:rPr lang="en-US" sz="2000"/>
              <a:t>MMS adaptat la limba română a oferit o performanță de bază foarte solidă (WER 7.18%) chiar și fără antrenare </a:t>
            </a:r>
            <a:r>
              <a:rPr lang="en-US" sz="2000" smtClean="0"/>
              <a:t>suplimentară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Eficiență</a:t>
            </a:r>
            <a:r>
              <a:rPr lang="ro-RO" sz="2000" smtClean="0"/>
              <a:t>: </a:t>
            </a:r>
            <a:r>
              <a:rPr lang="en-US" sz="2000" smtClean="0"/>
              <a:t>Demonstrarea </a:t>
            </a:r>
            <a:r>
              <a:rPr lang="en-US" sz="2000"/>
              <a:t>unei </a:t>
            </a:r>
            <a:r>
              <a:rPr lang="en-US" sz="2000" b="1">
                <a:solidFill>
                  <a:srgbClr val="333399"/>
                </a:solidFill>
              </a:rPr>
              <a:t>soluții ASR funcționale în timp real </a:t>
            </a:r>
            <a:r>
              <a:rPr lang="en-US" sz="2000"/>
              <a:t>și bazate pe un mediu de lucru modern și eficient (uv, Python, Hugging Face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Inovație</a:t>
            </a:r>
            <a:r>
              <a:rPr lang="ro-RO" sz="2000" smtClean="0"/>
              <a:t>: </a:t>
            </a:r>
            <a:r>
              <a:rPr lang="en-US" sz="2000" smtClean="0"/>
              <a:t>Dezvoltarea </a:t>
            </a:r>
            <a:r>
              <a:rPr lang="en-US" sz="2000"/>
              <a:t>unui </a:t>
            </a:r>
            <a:r>
              <a:rPr lang="en-US" sz="2000" b="1">
                <a:solidFill>
                  <a:srgbClr val="333399"/>
                </a:solidFill>
              </a:rPr>
              <a:t>sistem autonom de auto-învățare </a:t>
            </a:r>
            <a:r>
              <a:rPr lang="en-US" sz="2000"/>
              <a:t>ce utilizează validarea lexicală externă, capabil să învețe și să corecteze erorile cele mai frecvente ale </a:t>
            </a:r>
            <a:r>
              <a:rPr lang="en-US" sz="2000" smtClean="0"/>
              <a:t>ASR-ului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Replicabilitate</a:t>
            </a:r>
            <a:r>
              <a:rPr lang="ro-RO" sz="2000" smtClean="0"/>
              <a:t>: </a:t>
            </a:r>
            <a:r>
              <a:rPr lang="en-US" sz="2000" smtClean="0"/>
              <a:t>Proiectul </a:t>
            </a:r>
            <a:r>
              <a:rPr lang="en-US" sz="2000"/>
              <a:t>este complet documentat, inclusiv dependințe (requirements.txt) și cod sursă, asigurând o replicare ușoară a mediului de lucru.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5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10. </a:t>
            </a:r>
            <a:r>
              <a:rPr lang="en-US" sz="3200"/>
              <a:t>Perspective de </a:t>
            </a:r>
            <a:r>
              <a:rPr lang="ro-RO" sz="3200" smtClean="0"/>
              <a:t>d</a:t>
            </a:r>
            <a:r>
              <a:rPr lang="en-US" sz="3200" smtClean="0"/>
              <a:t>ezvoltare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Optimizare</a:t>
            </a:r>
            <a:r>
              <a:rPr lang="ro-RO" sz="2000" smtClean="0"/>
              <a:t>: </a:t>
            </a:r>
            <a:r>
              <a:rPr lang="en-US" sz="2000" smtClean="0"/>
              <a:t>Explorarea </a:t>
            </a:r>
            <a:r>
              <a:rPr lang="en-US" sz="2000"/>
              <a:t>opțiunilor de </a:t>
            </a:r>
            <a:r>
              <a:rPr lang="en-US" sz="2000" b="1">
                <a:solidFill>
                  <a:srgbClr val="333399"/>
                </a:solidFill>
              </a:rPr>
              <a:t>Fine-Tuning</a:t>
            </a:r>
            <a:r>
              <a:rPr lang="en-US" sz="2000"/>
              <a:t> (antrenare suplimentară) a modelului MMS pe corpusuri dedicate limbii române pentru a reduce și mai mult </a:t>
            </a:r>
            <a:r>
              <a:rPr lang="en-US" sz="2000" smtClean="0"/>
              <a:t>WER-ul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Corecții </a:t>
            </a:r>
            <a:r>
              <a:rPr lang="ro-RO" sz="2000" b="1" smtClean="0"/>
              <a:t>e</a:t>
            </a:r>
            <a:r>
              <a:rPr lang="en-US" sz="2000" b="1" smtClean="0"/>
              <a:t>xtinse</a:t>
            </a:r>
            <a:r>
              <a:rPr lang="ro-RO" sz="2000" smtClean="0"/>
              <a:t>: </a:t>
            </a:r>
            <a:r>
              <a:rPr lang="en-US" sz="2000" smtClean="0"/>
              <a:t>Îmbunătățirea </a:t>
            </a:r>
            <a:r>
              <a:rPr lang="en-US" sz="2000"/>
              <a:t>logicii de corecție lexicală pentru a gestiona erorile de tip inserție și ștergere (nu doar substituția cuvintelor invalide</a:t>
            </a:r>
            <a:r>
              <a:rPr lang="en-US" sz="2000" smtClean="0"/>
              <a:t>)</a:t>
            </a:r>
            <a:r>
              <a:rPr lang="ro-RO" sz="2000" smtClean="0"/>
              <a:t>;</a:t>
            </a:r>
          </a:p>
          <a:p>
            <a:pPr marL="0" indent="0" algn="just">
              <a:buNone/>
            </a:pPr>
            <a:endParaRPr lang="ro-RO" sz="200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smtClean="0"/>
              <a:t>Interfață</a:t>
            </a:r>
            <a:r>
              <a:rPr lang="ro-RO" sz="2000" smtClean="0"/>
              <a:t>: </a:t>
            </a:r>
            <a:r>
              <a:rPr lang="en-US" sz="2000" smtClean="0"/>
              <a:t>Crearea </a:t>
            </a:r>
            <a:r>
              <a:rPr lang="en-US" sz="2000"/>
              <a:t>unei interfețe grafice de utilizator (GUI) sau </a:t>
            </a:r>
            <a:r>
              <a:rPr lang="en-US" sz="2000" b="1">
                <a:solidFill>
                  <a:srgbClr val="333399"/>
                </a:solidFill>
              </a:rPr>
              <a:t>integrarea aplicației într-un serviciu </a:t>
            </a:r>
            <a:r>
              <a:rPr lang="en-US" sz="2000" b="1" smtClean="0">
                <a:solidFill>
                  <a:srgbClr val="333399"/>
                </a:solidFill>
              </a:rPr>
              <a:t>web</a:t>
            </a:r>
            <a:r>
              <a:rPr lang="en-US" sz="2000" smtClean="0"/>
              <a:t> </a:t>
            </a:r>
            <a:r>
              <a:rPr lang="en-US" sz="2000"/>
              <a:t>pentru accesibilitate </a:t>
            </a:r>
            <a:r>
              <a:rPr lang="en-US" sz="2000" smtClean="0"/>
              <a:t>sporită</a:t>
            </a:r>
            <a:r>
              <a:rPr lang="ro-RO" sz="2000" smtClean="0"/>
              <a:t>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02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10. </a:t>
            </a:r>
            <a:r>
              <a:rPr lang="en-US" sz="3200"/>
              <a:t>Perspective de </a:t>
            </a:r>
            <a:r>
              <a:rPr lang="ro-RO" sz="3200" smtClean="0"/>
              <a:t>d</a:t>
            </a:r>
            <a:r>
              <a:rPr lang="en-US" sz="3200" smtClean="0"/>
              <a:t>ezvoltare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smtClean="0"/>
              <a:t>Analiza textului brut ob</a:t>
            </a:r>
            <a:r>
              <a:rPr lang="ro-RO" sz="2000" smtClean="0"/>
              <a:t>ținut</a:t>
            </a:r>
          </a:p>
          <a:p>
            <a:pPr algn="just">
              <a:buFontTx/>
              <a:buChar char="-"/>
            </a:pPr>
            <a:r>
              <a:rPr lang="ro-RO" sz="2000" smtClean="0"/>
              <a:t>Se pot separa vocile interlocutorilor</a:t>
            </a:r>
          </a:p>
          <a:p>
            <a:pPr algn="just">
              <a:buFontTx/>
              <a:buChar char="-"/>
            </a:pPr>
            <a:r>
              <a:rPr lang="ro-RO" sz="2000" smtClean="0"/>
              <a:t>Se poate face un rezumat al celor discutate în cadrul ședinței</a:t>
            </a:r>
          </a:p>
          <a:p>
            <a:pPr algn="just">
              <a:buFontTx/>
              <a:buChar char="-"/>
            </a:pPr>
            <a:r>
              <a:rPr lang="ro-RO" sz="2000" smtClean="0"/>
              <a:t>Se pot extrage subiectele de discuție</a:t>
            </a:r>
          </a:p>
          <a:p>
            <a:pPr algn="just">
              <a:buFontTx/>
              <a:buChar char="-"/>
            </a:pPr>
            <a:r>
              <a:rPr lang="ro-RO" sz="2000" smtClean="0"/>
              <a:t>Se poate face o analiză a sentimentelor</a:t>
            </a:r>
          </a:p>
          <a:p>
            <a:pPr algn="just">
              <a:buFontTx/>
              <a:buChar char="-"/>
            </a:pPr>
            <a:endParaRPr lang="ro-RO" sz="2000"/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2000" smtClean="0"/>
              <a:t>Se poate realiza o hartă (raport) a întâlnirii/ședinței care să conțină:</a:t>
            </a:r>
          </a:p>
          <a:p>
            <a:pPr algn="just">
              <a:buFontTx/>
              <a:buChar char="-"/>
            </a:pPr>
            <a:r>
              <a:rPr lang="ro-RO" sz="2000" smtClean="0"/>
              <a:t>Numărul de participanți</a:t>
            </a:r>
          </a:p>
          <a:p>
            <a:pPr algn="just">
              <a:buFontTx/>
              <a:buChar char="-"/>
            </a:pPr>
            <a:r>
              <a:rPr lang="ro-RO" sz="2000" smtClean="0"/>
              <a:t>Subiectele abordate</a:t>
            </a:r>
          </a:p>
          <a:p>
            <a:pPr algn="just">
              <a:buFontTx/>
              <a:buChar char="-"/>
            </a:pPr>
            <a:r>
              <a:rPr lang="ro-RO" sz="2000" smtClean="0"/>
              <a:t>Analiza sentimentelor pe fiecare subiect/participant  - cum se raportează la subiecte, atitudine, etc.</a:t>
            </a:r>
          </a:p>
          <a:p>
            <a:pPr algn="just">
              <a:buFontTx/>
              <a:buChar char="-"/>
            </a:pPr>
            <a:r>
              <a:rPr lang="ro-RO" sz="2000" smtClean="0"/>
              <a:t>Rezumat abstractiv, respectiv extractiv</a:t>
            </a:r>
          </a:p>
          <a:p>
            <a:pPr marL="0" indent="0" algn="just">
              <a:buNone/>
            </a:pPr>
            <a:endParaRPr lang="ro-RO" sz="2000" smtClean="0"/>
          </a:p>
          <a:p>
            <a:pPr marL="0" indent="0" algn="just">
              <a:buNone/>
            </a:pPr>
            <a:r>
              <a:rPr lang="ro-RO" sz="2000" smtClean="0"/>
              <a:t>Această hartă poate fi utilizată la îmbunătățirea următoarelor contacte. Mai mult de atât, se poate urmări și evoluția unor contacte.</a:t>
            </a:r>
          </a:p>
          <a:p>
            <a:pPr marL="0" indent="0" algn="just">
              <a:buNone/>
            </a:pPr>
            <a:endParaRPr lang="ro-RO" sz="2000"/>
          </a:p>
          <a:p>
            <a:pPr marL="0" indent="0" algn="just">
              <a:buNone/>
            </a:pPr>
            <a:endParaRPr lang="ro-RO" sz="200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9. Bibliografie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044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/>
              <a:t>[1] J. McCarthy, “What is Artificial Intelligence?,” Stanford University, Stanford, CA, USA, 2004. [Online]. Available: http://jmc.stanford.edu/artificial-intelligence/what-is-ai/. Accessed: Nov. 12, 2025.</a:t>
            </a:r>
          </a:p>
          <a:p>
            <a:pPr marL="0" indent="0">
              <a:buNone/>
            </a:pPr>
            <a:r>
              <a:rPr lang="en-US" sz="1100"/>
              <a:t>[2] I. Goodfellow, Y. Bengio, and A. Courville, Deep Learning. Cambridge, MA, USA: MIT Press, 2016.</a:t>
            </a:r>
          </a:p>
          <a:p>
            <a:pPr marL="0" indent="0">
              <a:buNone/>
            </a:pPr>
            <a:r>
              <a:rPr lang="en-US" sz="1100"/>
              <a:t>[3] Meta AI, “Scaling Speech Technology to 1,000+ Languages,” Meta AI Research, 2023. [Online]. Available: https://ai.meta.com/blog/multilingual-model-speech-recognition/. Accessed: Nov. 12, 2025.</a:t>
            </a:r>
          </a:p>
          <a:p>
            <a:pPr marL="0" indent="0">
              <a:buNone/>
            </a:pPr>
            <a:r>
              <a:rPr lang="en-US" sz="1100"/>
              <a:t>[4] A. M. Turing, “Computing Machinery and Intelligence,” Mind, vol. 59, no. 236, pp. 433–460, Oct. 1950.</a:t>
            </a:r>
          </a:p>
          <a:p>
            <a:pPr marL="0" indent="0">
              <a:buNone/>
            </a:pPr>
            <a:r>
              <a:rPr lang="en-US" sz="1100"/>
              <a:t>[5] S. Russell and P. Norvig, Artificial Intelligence: A Modern Approach, 4th ed. Hoboken, NJ, USA: Pearson, 2020.</a:t>
            </a:r>
          </a:p>
          <a:p>
            <a:pPr marL="0" indent="0">
              <a:buNone/>
            </a:pPr>
            <a:r>
              <a:rPr lang="en-US" sz="1100"/>
              <a:t>[6] Y. LeCun, Y. Bengio, and G. Hinton, “Deep Learning,” Nature, vol. 521, no. 7553, pp. 436–444, May 2015.</a:t>
            </a:r>
          </a:p>
          <a:p>
            <a:pPr marL="0" indent="0">
              <a:buNone/>
            </a:pPr>
            <a:r>
              <a:rPr lang="en-US" sz="1100"/>
              <a:t>[7] W. S. McCulloch and W. Pitts, “A Logical Calculus of the Ideas Immanent in Nervous Activity,” Bulletin of Mathematical Biophysics, vol. 5, no. 4, pp. 115–133, Dec. 1943.</a:t>
            </a:r>
          </a:p>
          <a:p>
            <a:pPr marL="0" indent="0">
              <a:buNone/>
            </a:pPr>
            <a:r>
              <a:rPr lang="en-US" sz="1100"/>
              <a:t>[8] D. Silver et al., “Mastering the Game of Go with Deep Neural Networks and Tree Search,” Nature, vol. 529, no. 7587, pp. 484–489, Jan. 2016.</a:t>
            </a:r>
          </a:p>
          <a:p>
            <a:pPr marL="0" indent="0">
              <a:buNone/>
            </a:pPr>
            <a:r>
              <a:rPr lang="en-US" sz="1100"/>
              <a:t>[9] A. Vaswani et al., “Attention is All You Need,” in Proc. 31st Conf. Neural Inf. Process. Syst. (NeurIPS), Dec. 2017, pp. 5998–6008.</a:t>
            </a:r>
          </a:p>
          <a:p>
            <a:pPr marL="0" indent="0">
              <a:buNone/>
            </a:pPr>
            <a:r>
              <a:rPr lang="en-US" sz="1100"/>
              <a:t>[10] A. Baevski et al., “wav2vec 2.0: A Framework for Self-Supervised Learning of Speech Representations,” in Proc. 33rd Conf. Neural Inf. Process. Syst. (NeurIPS), Dec. 2020.</a:t>
            </a:r>
          </a:p>
          <a:p>
            <a:pPr marL="0" indent="0">
              <a:buNone/>
            </a:pPr>
            <a:r>
              <a:rPr lang="en-US" sz="1100"/>
              <a:t>[11] Mozilla Foundation, “Common Voice Dataset,” Mozilla Foundation, 2025. [Online]. Available: https://datacollective.mozillafoundation.org/datasets/cmflnuzw788wfzzhnv1wim44fc. Accessed: Nov. 12, 2025.</a:t>
            </a:r>
          </a:p>
          <a:p>
            <a:pPr marL="0" indent="0">
              <a:buNone/>
            </a:pPr>
            <a:r>
              <a:rPr lang="en-US" sz="1100"/>
              <a:t>[12] Hugging Face, “facebook/mms-1b,” Hugging Face Hub. [Online]. Available: https://huggingface.co/facebook/mms-1b. Accessed: Nov. 12, 2025.</a:t>
            </a:r>
          </a:p>
          <a:p>
            <a:pPr marL="0" indent="0">
              <a:buNone/>
            </a:pPr>
            <a:r>
              <a:rPr lang="en-US" sz="1100"/>
              <a:t>[13] Hugging Face, “facebook/mms-1b-all,” Hugging Face Hub. [Online]. Available: https://huggingface.co/facebook/mms-1b-all. Accessed: Nov. 12, 2025.</a:t>
            </a:r>
          </a:p>
          <a:p>
            <a:pPr marL="0" indent="0">
              <a:buNone/>
            </a:pPr>
            <a:r>
              <a:rPr lang="en-US" sz="1100"/>
              <a:t>[14] DEXonline, “Lista oficială LOC-5,” 2025. [Online]. Available: https://dexonline.ro/download/scrabble/loc5.txt. Accessed: Nov. 14, 2025.</a:t>
            </a:r>
          </a:p>
          <a:p>
            <a:pPr marL="0" indent="0">
              <a:buNone/>
            </a:pPr>
            <a:r>
              <a:rPr lang="en-US" sz="1100"/>
              <a:t>[15] J. Zhao, V. Pratap, and M. Auli, “Scaling a Simple Approach to Zero-Shot Speech Recognition,” arXiv preprint arXiv:2407.17852, 2024. [Online]. Available: https://arxiv.org/abs/2407.17852. Accessed: Nov. 14, 2025.</a:t>
            </a:r>
          </a:p>
          <a:p>
            <a:pPr marL="0" indent="0">
              <a:buNone/>
            </a:pPr>
            <a:r>
              <a:rPr lang="en-US" sz="1100"/>
              <a:t>[16] Stanford Human-Centered Artificial Intelligence (HAI), “The 2025 AI Index Report,” Stanford HAI, 2025. [Online]. Available: https://hai.stanford.edu/ai-index/2025-ai-index-report. Accessed: Nov. 12, 2025.</a:t>
            </a:r>
          </a:p>
          <a:p>
            <a:pPr marL="0" indent="0">
              <a:buNone/>
            </a:pPr>
            <a:endParaRPr lang="en-US" sz="1050" b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5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333399"/>
                </a:solidFill>
              </a:rPr>
              <a:t>Mulțumesc pentru atenție!</a:t>
            </a:r>
            <a:endParaRPr lang="en-US" sz="3200" b="1">
              <a:solidFill>
                <a:srgbClr val="333399"/>
              </a:solidFill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o-RO" sz="2400" b="1" smtClean="0"/>
          </a:p>
          <a:p>
            <a:pPr marL="0" indent="0" algn="ctr">
              <a:buNone/>
            </a:pPr>
            <a:endParaRPr lang="ro-RO" sz="2400" b="1"/>
          </a:p>
          <a:p>
            <a:pPr marL="0" indent="0" algn="ctr">
              <a:buNone/>
            </a:pPr>
            <a:endParaRPr lang="ro-RO" sz="2400" b="1" smtClean="0"/>
          </a:p>
          <a:p>
            <a:pPr marL="0" indent="0" algn="ctr">
              <a:buNone/>
            </a:pPr>
            <a:endParaRPr lang="ro-RO" sz="2400" b="1"/>
          </a:p>
          <a:p>
            <a:pPr marL="0" indent="0" algn="ctr">
              <a:buNone/>
            </a:pPr>
            <a:r>
              <a:rPr lang="en-US" sz="2400" b="1" smtClean="0"/>
              <a:t>Întrebări?</a:t>
            </a:r>
            <a:r>
              <a:rPr lang="ro-RO" sz="2400" b="1" smtClean="0"/>
              <a:t> </a:t>
            </a:r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1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1698</Words>
  <Application>Microsoft Office PowerPoint</Application>
  <PresentationFormat>On-screen Show (4:3)</PresentationFormat>
  <Paragraphs>146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Wingdings</vt:lpstr>
      <vt:lpstr>Office Theme</vt:lpstr>
      <vt:lpstr>MEDII ȘI INSTRUMENTE DE PROGRAMARE</vt:lpstr>
      <vt:lpstr>1. Obiectivele proiectului</vt:lpstr>
      <vt:lpstr>2. Mediul de dezvoltare și dependințe</vt:lpstr>
      <vt:lpstr>3. Pregătirea bazelor de date.  Modelul MMS: descărcare și adaptare lingvistică</vt:lpstr>
      <vt:lpstr>4. Pregătirea bazelor de date.  Setul de date pentru testare (evaluare)</vt:lpstr>
      <vt:lpstr>5. Performanța modelului MMS (Zero-Shot)</vt:lpstr>
      <vt:lpstr>6. Demonstrația ASR în streaming (microfon)</vt:lpstr>
      <vt:lpstr>7. Îmbunătățirea modelului: auto-învățare lexicală</vt:lpstr>
      <vt:lpstr>8. Impactul Corecției Lexicale (WER Final)</vt:lpstr>
      <vt:lpstr>9. Concluzii</vt:lpstr>
      <vt:lpstr>10. Perspective de dezvoltare</vt:lpstr>
      <vt:lpstr>10. Perspective de dezvoltare</vt:lpstr>
      <vt:lpstr>9. Bibliografie</vt:lpstr>
      <vt:lpstr>Mulțumesc pentru atenție!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Inteligența artificială și Învățarea automată</dc:title>
  <dc:subject/>
  <dc:creator>Cody</dc:creator>
  <cp:keywords/>
  <dc:description>generated using python-pptx</dc:description>
  <cp:lastModifiedBy>Cody</cp:lastModifiedBy>
  <cp:revision>39</cp:revision>
  <dcterms:created xsi:type="dcterms:W3CDTF">2013-01-27T09:14:16Z</dcterms:created>
  <dcterms:modified xsi:type="dcterms:W3CDTF">2025-12-14T06:34:37Z</dcterms:modified>
  <cp:category/>
</cp:coreProperties>
</file>