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0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BFEB6-A6D6-4737-BF9D-7696298678C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15C87-2162-4EAC-9F87-CE3C491A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5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C81-688B-4ECB-8287-F2A0C85ABC99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32BC-12DE-4213-9660-41E8A89F1D9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2C9-02F7-4E5A-A2FE-EF2CDA4CBAF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6917-38CF-400A-878E-DE0255A41F2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3D57-A624-472C-9940-A88DC566159B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F48A7-6383-4E1E-B09F-EC657B461D9C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5BF9-54FF-46BF-8F3B-EE14E952D637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025B-312D-4208-A506-C599F0E4382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E2F5-ACBE-4E42-904E-0EA348F7DD46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EF2C-20F1-4455-878B-B3E5DA150212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C0AD-71E4-4C89-9F10-A40180069AD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48256-9CDC-4F0D-B531-0B4207CEB1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83521"/>
            <a:ext cx="7772400" cy="939347"/>
          </a:xfrm>
        </p:spPr>
        <p:txBody>
          <a:bodyPr>
            <a:normAutofit/>
          </a:bodyPr>
          <a:lstStyle/>
          <a:p>
            <a:r>
              <a:rPr lang="en-US" sz="3200" b="1" err="1">
                <a:latin typeface="+mn-lt"/>
              </a:rPr>
              <a:t>Inteligența</a:t>
            </a:r>
            <a:r>
              <a:rPr lang="en-US" sz="3200" b="1">
                <a:latin typeface="+mn-lt"/>
              </a:rPr>
              <a:t> </a:t>
            </a:r>
            <a:r>
              <a:rPr lang="en-US" sz="3200" b="1" err="1" smtClean="0">
                <a:latin typeface="+mn-lt"/>
              </a:rPr>
              <a:t>artificială</a:t>
            </a:r>
            <a:r>
              <a:rPr lang="en-US" sz="3200" b="1" smtClean="0">
                <a:latin typeface="+mn-lt"/>
              </a:rPr>
              <a:t> </a:t>
            </a:r>
            <a:r>
              <a:rPr lang="en-US" sz="3200" b="1" err="1">
                <a:latin typeface="+mn-lt"/>
              </a:rPr>
              <a:t>și</a:t>
            </a:r>
            <a:r>
              <a:rPr lang="en-US" sz="3200" b="1">
                <a:latin typeface="+mn-lt"/>
              </a:rPr>
              <a:t> </a:t>
            </a:r>
            <a:r>
              <a:rPr lang="en-US" sz="3200" b="1" err="1">
                <a:latin typeface="+mn-lt"/>
              </a:rPr>
              <a:t>Învățarea</a:t>
            </a:r>
            <a:r>
              <a:rPr lang="en-US" sz="3200" b="1">
                <a:latin typeface="+mn-lt"/>
              </a:rPr>
              <a:t> </a:t>
            </a:r>
            <a:r>
              <a:rPr lang="en-US" sz="3200" b="1" err="1" smtClean="0">
                <a:latin typeface="+mn-lt"/>
              </a:rPr>
              <a:t>automată</a:t>
            </a:r>
            <a:endParaRPr sz="3200" b="1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09993" y="2307811"/>
            <a:ext cx="5524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/>
              <a:t>Fundamente, algoritmi și aplicații practice</a:t>
            </a:r>
            <a:endParaRPr lang="en-US" sz="2400" b="1"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198047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/>
              <a:t>Studiu de caz: Recunoașterea automată a vorbirii în limba română</a:t>
            </a:r>
          </a:p>
        </p:txBody>
      </p:sp>
      <p:sp>
        <p:nvSpPr>
          <p:cNvPr id="10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5800" y="4229597"/>
            <a:ext cx="7772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Autor: Robu Florin Octavian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Coordonator: Toh</a:t>
            </a:r>
            <a:r>
              <a:rPr kumimoji="0" lang="ro-RO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ănean</a:t>
            </a:r>
            <a:r>
              <a:rPr kumimoji="0" lang="ro-RO" altLang="en-US" sz="240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</a:rPr>
              <a:t> Dragoș</a:t>
            </a:r>
            <a:endParaRPr kumimoji="0" lang="en-US" altLang="en-US" sz="24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Data: 16 noiembrie 2025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240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Structură: Teorie (cap. 1–5) + Aplicare practică (cap. 6)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9993" y="244578"/>
            <a:ext cx="58473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smtClean="0"/>
              <a:t>UNIVERSITATEA </a:t>
            </a:r>
            <a:r>
              <a:rPr lang="ro-RO" b="1"/>
              <a:t>TRANSILVANIA DIN BRAȘOV</a:t>
            </a:r>
            <a:endParaRPr lang="en-US" b="1"/>
          </a:p>
          <a:p>
            <a:r>
              <a:rPr lang="ro-RO" b="1"/>
              <a:t>FACULTATEA DE MATEMATICĂ ȘI INFORMATICĂ</a:t>
            </a:r>
            <a:endParaRPr lang="en-US" b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68" y="244579"/>
            <a:ext cx="609762" cy="5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smtClean="0"/>
              <a:t>1. </a:t>
            </a:r>
            <a:r>
              <a:rPr lang="it-IT" sz="3200" smtClean="0"/>
              <a:t>Introducere </a:t>
            </a:r>
            <a:r>
              <a:rPr lang="it-IT" sz="3200"/>
              <a:t>– Obiectivele specifice ale lucrării</a:t>
            </a:r>
            <a:endParaRPr lang="it-IT" sz="320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/>
              <a:t>Obiectivele</a:t>
            </a:r>
            <a:r>
              <a:rPr lang="en-US" sz="2000"/>
              <a:t> specifice ale lucrării sunt: 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smtClean="0"/>
              <a:t>Prezentarea </a:t>
            </a:r>
            <a:r>
              <a:rPr lang="en-US" sz="2000"/>
              <a:t>detaliată a fundamentelor IA, incluzând definiții, clasificări și evoluția istorică 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smtClean="0"/>
              <a:t>Explicarea </a:t>
            </a:r>
            <a:r>
              <a:rPr lang="en-US" sz="2000"/>
              <a:t>paradigmelor de învățare automată, însoțită de exemple ilustrative 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smtClean="0"/>
              <a:t>Analiza </a:t>
            </a:r>
            <a:r>
              <a:rPr lang="en-US" sz="2000"/>
              <a:t>algoritmilor clasici și moderni, de la regresii la arhitecturile de tip transformer 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smtClean="0"/>
              <a:t>Explorarea </a:t>
            </a:r>
            <a:r>
              <a:rPr lang="en-US" sz="2000"/>
              <a:t>aplicațiilor practice în domenii precum recunoașterea vocală (ASR), procesarea limbajului natural (NLP) și viziunea computerizată 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smtClean="0"/>
              <a:t>Dezvoltarea </a:t>
            </a:r>
            <a:r>
              <a:rPr lang="en-US" sz="2000"/>
              <a:t>unui studiu de caz concret: implementarea și evaluarea recunoașterii automate a </a:t>
            </a:r>
            <a:r>
              <a:rPr lang="en-US" sz="2000" smtClean="0"/>
              <a:t>vorbirii </a:t>
            </a:r>
            <a:r>
              <a:rPr lang="en-US" sz="2000"/>
              <a:t>(ASR) în limba română folosind modelul MMS Zero-Shot [3</a:t>
            </a:r>
            <a:r>
              <a:rPr lang="en-US" sz="2000" smtClean="0"/>
              <a:t>]</a:t>
            </a: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/>
              <a:t>Context</a:t>
            </a:r>
            <a:r>
              <a:rPr lang="en-US" sz="2000"/>
              <a:t>: 7 miliarde utilizatori IA zilnic [3]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2.1. Definirea IA – De la Turing la AGI</a:t>
            </a:r>
            <a:endParaRPr lang="en-US" sz="3200">
              <a:effectLst/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/>
              <a:t>Test Turing </a:t>
            </a:r>
            <a:r>
              <a:rPr lang="en-US" sz="2000"/>
              <a:t>(1950</a:t>
            </a:r>
            <a:r>
              <a:rPr lang="en-US" sz="2000" smtClean="0"/>
              <a:t>):</a:t>
            </a:r>
            <a:endParaRPr lang="ro-RO" sz="2000" smtClean="0"/>
          </a:p>
          <a:p>
            <a:pPr marL="0" indent="0">
              <a:buNone/>
            </a:pPr>
            <a:r>
              <a:rPr lang="ro-RO" sz="2000" smtClean="0"/>
              <a:t>	</a:t>
            </a:r>
            <a:r>
              <a:rPr lang="en-US" sz="2000" smtClean="0"/>
              <a:t>„</a:t>
            </a:r>
            <a:r>
              <a:rPr lang="en-US" sz="2000"/>
              <a:t>Mașina e inteligentă dacă nu o distingi de om în conversație” [4</a:t>
            </a:r>
            <a:r>
              <a:rPr lang="en-US" sz="2000" smtClean="0"/>
              <a:t>]</a:t>
            </a: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Agent </a:t>
            </a:r>
            <a:r>
              <a:rPr lang="en-US" sz="2000" b="1"/>
              <a:t>rațional </a:t>
            </a:r>
            <a:r>
              <a:rPr lang="en-US" sz="2000"/>
              <a:t>(Russell &amp; Norvig</a:t>
            </a:r>
            <a:r>
              <a:rPr lang="en-US" sz="2000" smtClean="0"/>
              <a:t>):</a:t>
            </a:r>
            <a:endParaRPr lang="ro-RO" sz="2000" smtClean="0"/>
          </a:p>
          <a:p>
            <a:pPr marL="0" indent="0">
              <a:buNone/>
            </a:pPr>
            <a:r>
              <a:rPr lang="ro-RO" sz="2000"/>
              <a:t>	</a:t>
            </a:r>
            <a:r>
              <a:rPr lang="en-US" sz="2000" smtClean="0"/>
              <a:t>Percepe </a:t>
            </a:r>
            <a:r>
              <a:rPr lang="en-US" sz="2000"/>
              <a:t>→ Acționează → Maximizează succesul [5</a:t>
            </a:r>
            <a:r>
              <a:rPr lang="en-US" sz="2000" smtClean="0"/>
              <a:t>]</a:t>
            </a: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Tipuri </a:t>
            </a:r>
            <a:r>
              <a:rPr lang="en-US" sz="2000" b="1"/>
              <a:t>IA</a:t>
            </a:r>
            <a:r>
              <a:rPr lang="en-US" sz="2000" smtClean="0"/>
              <a:t>:</a:t>
            </a:r>
            <a:endParaRPr lang="ro-RO" sz="200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smtClean="0"/>
              <a:t>IA </a:t>
            </a:r>
            <a:r>
              <a:rPr lang="en-US" sz="2000" b="1"/>
              <a:t>Slabă </a:t>
            </a:r>
            <a:r>
              <a:rPr lang="ro-RO" sz="2000" b="1" smtClean="0"/>
              <a:t>- </a:t>
            </a:r>
            <a:r>
              <a:rPr lang="en-US" sz="2000" b="1" smtClean="0"/>
              <a:t>Narrow AI</a:t>
            </a:r>
            <a:r>
              <a:rPr lang="en-US" sz="2000" smtClean="0"/>
              <a:t>: </a:t>
            </a:r>
            <a:r>
              <a:rPr lang="en-US" sz="2000"/>
              <a:t>Specializată pe sarcini unice (ex: recunoaștere vocală, diagnostic medical</a:t>
            </a:r>
            <a:r>
              <a:rPr lang="en-US" sz="2000" smtClean="0"/>
              <a:t>)</a:t>
            </a:r>
            <a:r>
              <a:rPr lang="ro-RO" sz="2000" smtClean="0"/>
              <a:t>. Ex:</a:t>
            </a:r>
            <a:r>
              <a:rPr lang="en-US" sz="2000" smtClean="0"/>
              <a:t> </a:t>
            </a:r>
            <a:r>
              <a:rPr lang="en-US" sz="2000"/>
              <a:t>Siri, recunoaștere </a:t>
            </a:r>
            <a:r>
              <a:rPr lang="en-US" sz="2000" smtClean="0"/>
              <a:t>facial</a:t>
            </a:r>
            <a:r>
              <a:rPr lang="ro-RO" sz="2000" smtClean="0"/>
              <a:t>ă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smtClean="0"/>
              <a:t>IA Puternică</a:t>
            </a:r>
            <a:r>
              <a:rPr lang="en-US" sz="2000" b="1"/>
              <a:t> </a:t>
            </a:r>
            <a:r>
              <a:rPr lang="ro-RO" sz="2000" b="1" smtClean="0"/>
              <a:t>- </a:t>
            </a:r>
            <a:r>
              <a:rPr lang="en-US" sz="2000" b="1" smtClean="0"/>
              <a:t>Artificial </a:t>
            </a:r>
            <a:r>
              <a:rPr lang="en-US" sz="2000" b="1"/>
              <a:t>General Intelligence</a:t>
            </a:r>
            <a:r>
              <a:rPr lang="en-US" sz="2000" b="1" smtClean="0"/>
              <a:t> </a:t>
            </a:r>
            <a:r>
              <a:rPr lang="en-US" sz="2000" b="1"/>
              <a:t>(AGI)</a:t>
            </a:r>
            <a:r>
              <a:rPr lang="en-US" sz="2000"/>
              <a:t>: Obiectivul de a obține o inteligență echivalentă cu cea umană</a:t>
            </a:r>
            <a:r>
              <a:rPr lang="en-US" sz="2000" smtClean="0"/>
              <a:t>.</a:t>
            </a:r>
            <a:r>
              <a:rPr lang="ro-RO" sz="2000" smtClean="0"/>
              <a:t> </a:t>
            </a:r>
            <a:r>
              <a:rPr lang="en-US" sz="2000" smtClean="0"/>
              <a:t>Rezolvă </a:t>
            </a:r>
            <a:r>
              <a:rPr lang="en-US" sz="2000"/>
              <a:t>orice problemă umană (încă teoretic) [6]</a:t>
            </a:r>
            <a:endParaRPr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>
                <a:latin typeface="+mn-lt"/>
              </a:rPr>
              <a:t>2.2. Istoria IA – 1943 → </a:t>
            </a:r>
            <a:r>
              <a:rPr lang="pt-BR" sz="3200" smtClean="0">
                <a:latin typeface="+mn-lt"/>
              </a:rPr>
              <a:t>202</a:t>
            </a:r>
            <a:r>
              <a:rPr lang="ro-RO" sz="3200" smtClean="0">
                <a:latin typeface="+mn-lt"/>
              </a:rPr>
              <a:t>5</a:t>
            </a:r>
            <a:endParaRPr sz="3200"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124245"/>
            <a:ext cx="669856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1943: Neuron artificial – McCulloch &amp; Pitts [7] </a:t>
            </a:r>
            <a:endParaRPr kumimoji="0" lang="ro-RO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1956: Dartmouth – nașterea IA [1] </a:t>
            </a:r>
            <a:endParaRPr kumimoji="0" lang="ro-RO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Iarna (1970–1980): Raport Lighthill → finanțare tăiată [5] </a:t>
            </a:r>
            <a:endParaRPr kumimoji="0" lang="ro-RO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1997: Deep Blue </a:t>
            </a:r>
            <a:r>
              <a:rPr kumimoji="0" lang="ro-RO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îl </a:t>
            </a: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învinge </a:t>
            </a:r>
            <a:r>
              <a:rPr kumimoji="0" lang="ro-RO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pe </a:t>
            </a: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Kasparov [5] </a:t>
            </a:r>
            <a:endParaRPr kumimoji="0" lang="ro-RO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2016: AlphaGo (RL) </a:t>
            </a:r>
            <a:r>
              <a:rPr kumimoji="0" lang="ro-RO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îl </a:t>
            </a: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învinge </a:t>
            </a:r>
            <a:r>
              <a:rPr kumimoji="0" lang="ro-RO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pe </a:t>
            </a: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Lee Sedol [8] </a:t>
            </a:r>
            <a:endParaRPr kumimoji="0" lang="ro-RO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2023: MMS – 1.100 limbi, zero-shot [3]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3.1. Paradigme ML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smtClean="0"/>
              <a:t>	</a:t>
            </a:r>
            <a:r>
              <a:rPr lang="en-US" sz="2000" b="1" smtClean="0"/>
              <a:t>Supravegheată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it-IT" sz="2000"/>
              <a:t>Antrenare pe date etichetate (</a:t>
            </a:r>
            <a:r>
              <a:rPr lang="it-IT" sz="2000" b="1"/>
              <a:t>Clasificare/Regresie</a:t>
            </a:r>
            <a:r>
              <a:rPr lang="it-IT" sz="2000"/>
              <a:t>).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→ Ex: </a:t>
            </a:r>
            <a:r>
              <a:rPr lang="en-US" sz="2000"/>
              <a:t>Detectare spam [2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r>
              <a:rPr lang="ro-RO" sz="2000" smtClean="0"/>
              <a:t>        </a:t>
            </a:r>
            <a:r>
              <a:rPr lang="en-US" sz="2000" b="1" smtClean="0"/>
              <a:t>Nesupravegheată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Descoperă structuri în date brute (</a:t>
            </a:r>
            <a:r>
              <a:rPr lang="en-US" sz="2000" b="1" smtClean="0"/>
              <a:t>Clustering</a:t>
            </a:r>
            <a:r>
              <a:rPr lang="en-US" sz="2000" smtClean="0"/>
              <a:t>).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→ Ex</a:t>
            </a:r>
            <a:r>
              <a:rPr lang="en-US" sz="2000"/>
              <a:t>: Segmentare clienți [2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r>
              <a:rPr lang="ro-RO" sz="2000" smtClean="0"/>
              <a:t>        </a:t>
            </a:r>
            <a:r>
              <a:rPr lang="en-US" sz="2000" b="1" smtClean="0"/>
              <a:t>Prin </a:t>
            </a:r>
            <a:r>
              <a:rPr lang="en-US" sz="2000" b="1"/>
              <a:t>întărire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/>
              <a:t>Învață prin interacțiune, bazată pe </a:t>
            </a:r>
            <a:r>
              <a:rPr lang="en-US" sz="2000" smtClean="0"/>
              <a:t>recompense</a:t>
            </a:r>
            <a:r>
              <a:rPr lang="ro-RO" sz="2000" smtClean="0"/>
              <a:t>/</a:t>
            </a:r>
            <a:r>
              <a:rPr lang="en-US" sz="2000"/>
              <a:t>pedeapsă</a:t>
            </a:r>
            <a:r>
              <a:rPr lang="en-US" sz="2000" smtClean="0"/>
              <a:t>.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→ Ex</a:t>
            </a:r>
            <a:r>
              <a:rPr lang="en-US" sz="2000"/>
              <a:t>: AlphaGo [8]</a:t>
            </a:r>
          </a:p>
        </p:txBody>
      </p:sp>
      <p:pic>
        <p:nvPicPr>
          <p:cNvPr id="9" name="Google Shape;108;p15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1176" y="1665514"/>
            <a:ext cx="363894" cy="30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055" y="3162153"/>
            <a:ext cx="300135" cy="27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176" y="4631104"/>
            <a:ext cx="300135" cy="25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5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3.2. Algoritmi clasici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Regresie liniară</a:t>
            </a:r>
            <a:r>
              <a:rPr lang="en-US" sz="2000" smtClean="0"/>
              <a:t>: y = ax + b → preț casă [2]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Regresie logistică</a:t>
            </a:r>
            <a:r>
              <a:rPr lang="en-US" sz="2000" smtClean="0"/>
              <a:t>: Probabilitate da/nu [2]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Arbori de decizie</a:t>
            </a:r>
            <a:r>
              <a:rPr lang="en-US" sz="2000" smtClean="0"/>
              <a:t>: Întrebări da/nu [2]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SVM</a:t>
            </a:r>
            <a:r>
              <a:rPr lang="ro-RO" sz="2000" smtClean="0"/>
              <a:t> (</a:t>
            </a:r>
            <a:r>
              <a:rPr lang="en-US" sz="2000"/>
              <a:t>Support Vector </a:t>
            </a:r>
            <a:r>
              <a:rPr lang="en-US" sz="2000" smtClean="0"/>
              <a:t>Machine</a:t>
            </a:r>
            <a:r>
              <a:rPr lang="ro-RO" sz="2000" smtClean="0"/>
              <a:t>)</a:t>
            </a:r>
            <a:r>
              <a:rPr lang="en-US" sz="2000" smtClean="0"/>
              <a:t>: </a:t>
            </a:r>
            <a:r>
              <a:rPr lang="en-US" sz="2000"/>
              <a:t>Maximizează marja [2]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K</a:t>
            </a:r>
            <a:r>
              <a:rPr lang="ro-RO" sz="2000" b="1" smtClean="0"/>
              <a:t>-</a:t>
            </a:r>
            <a:r>
              <a:rPr lang="en-US" sz="2000" b="1" smtClean="0"/>
              <a:t>NN</a:t>
            </a:r>
            <a:r>
              <a:rPr lang="en-US" sz="2000" smtClean="0"/>
              <a:t> </a:t>
            </a:r>
            <a:r>
              <a:rPr lang="ro-RO" sz="2000" smtClean="0"/>
              <a:t>(</a:t>
            </a:r>
            <a:r>
              <a:rPr lang="en-US" sz="2000"/>
              <a:t>K-Nearest </a:t>
            </a:r>
            <a:r>
              <a:rPr lang="en-US" sz="2000" smtClean="0"/>
              <a:t>Neighbors</a:t>
            </a:r>
            <a:r>
              <a:rPr lang="ro-RO" sz="2000" smtClean="0"/>
              <a:t>)</a:t>
            </a:r>
            <a:r>
              <a:rPr lang="en-US" sz="2000" smtClean="0"/>
              <a:t>:</a:t>
            </a:r>
            <a:r>
              <a:rPr lang="ro-RO" sz="2000" smtClean="0"/>
              <a:t> </a:t>
            </a:r>
            <a:r>
              <a:rPr lang="en-US" sz="2000" smtClean="0"/>
              <a:t>K </a:t>
            </a:r>
            <a:r>
              <a:rPr lang="en-US" sz="2000"/>
              <a:t>vecini votează [2]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8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3.3. Deep Learning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Utilizarea Rețelelor </a:t>
            </a:r>
            <a:r>
              <a:rPr lang="ro-RO" sz="2000" smtClean="0"/>
              <a:t>n</a:t>
            </a:r>
            <a:r>
              <a:rPr lang="en-US" sz="2000" smtClean="0"/>
              <a:t>euronale </a:t>
            </a:r>
            <a:r>
              <a:rPr lang="ro-RO" sz="2000" smtClean="0"/>
              <a:t>p</a:t>
            </a:r>
            <a:r>
              <a:rPr lang="en-US" sz="2000" smtClean="0"/>
              <a:t>rofunde</a:t>
            </a:r>
            <a:endParaRPr lang="ro-RO" sz="2000" b="1" smtClean="0"/>
          </a:p>
          <a:p>
            <a:pPr>
              <a:buFont typeface="Wingdings" panose="05000000000000000000" pitchFamily="2" charset="2"/>
              <a:buChar char="q"/>
            </a:pPr>
            <a:endParaRPr lang="ro-RO" sz="2000" b="1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CNN</a:t>
            </a:r>
            <a:r>
              <a:rPr lang="ro-RO" sz="2000" b="1"/>
              <a:t> </a:t>
            </a:r>
            <a:r>
              <a:rPr lang="ro-RO" sz="2000"/>
              <a:t>(Convolutional Neural Networks</a:t>
            </a:r>
            <a:r>
              <a:rPr lang="ro-RO" sz="2000" smtClean="0"/>
              <a:t>)</a:t>
            </a:r>
            <a:r>
              <a:rPr lang="en-US" sz="2000" smtClean="0"/>
              <a:t>: </a:t>
            </a:r>
            <a:r>
              <a:rPr lang="en-US" sz="2000"/>
              <a:t>Linii → forme → obiecte (tumori radiografii) [6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RNN </a:t>
            </a:r>
            <a:r>
              <a:rPr lang="ro-RO" sz="2000"/>
              <a:t>(Recurrent Neural </a:t>
            </a:r>
            <a:r>
              <a:rPr lang="ro-RO" sz="2000" smtClean="0"/>
              <a:t>Networks)</a:t>
            </a:r>
            <a:r>
              <a:rPr lang="en-US" sz="2000" b="1" smtClean="0"/>
              <a:t>/ LSTM</a:t>
            </a:r>
            <a:r>
              <a:rPr lang="ro-RO" sz="2000" b="1"/>
              <a:t> </a:t>
            </a:r>
            <a:r>
              <a:rPr lang="ro-RO" sz="2000"/>
              <a:t>(Long Short-Term Memory)</a:t>
            </a:r>
            <a:r>
              <a:rPr lang="en-US" sz="2000" smtClean="0"/>
              <a:t>: </a:t>
            </a:r>
            <a:r>
              <a:rPr lang="en-US" sz="2000"/>
              <a:t>Memorie secvențială (vorbire, text) [2]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5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4.1. </a:t>
            </a:r>
            <a:r>
              <a:rPr lang="ro-RO" sz="3200" smtClean="0"/>
              <a:t>Arhitectura </a:t>
            </a:r>
            <a:r>
              <a:rPr lang="en-US" sz="3200" b="1" smtClean="0"/>
              <a:t>Transformer</a:t>
            </a:r>
            <a:endParaRPr lang="en-US" sz="3200" b="1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smtClean="0"/>
              <a:t>Se </a:t>
            </a:r>
            <a:r>
              <a:rPr lang="ro-RO" sz="2000"/>
              <a:t>bazează pe Mecanismul de </a:t>
            </a:r>
            <a:r>
              <a:rPr lang="ro-RO" sz="2000" smtClean="0"/>
              <a:t>atenție </a:t>
            </a:r>
            <a:r>
              <a:rPr lang="ro-RO" sz="2000"/>
              <a:t>(Self-Attention) pentru a înțelege contextul global al secvenței, fiind mai rapidă și mai eficientă decât RNN.</a:t>
            </a:r>
          </a:p>
          <a:p>
            <a:pPr>
              <a:buFont typeface="Wingdings" panose="05000000000000000000" pitchFamily="2" charset="2"/>
              <a:buChar char="q"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Attention</a:t>
            </a:r>
            <a:r>
              <a:rPr lang="en-US" sz="2000"/>
              <a:t>: Focus pe cuvinte </a:t>
            </a:r>
            <a:r>
              <a:rPr lang="en-US" sz="2000" smtClean="0"/>
              <a:t>relevante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Ex</a:t>
            </a:r>
            <a:r>
              <a:rPr lang="en-US" sz="2000"/>
              <a:t>: „Câinele mănâncă osul” → „câinele” + „osul</a:t>
            </a:r>
            <a:r>
              <a:rPr lang="en-US" sz="2000" smtClean="0"/>
              <a:t>”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BERT</a:t>
            </a:r>
            <a:r>
              <a:rPr lang="en-US" sz="2000"/>
              <a:t>: Înțelegere </a:t>
            </a:r>
            <a:r>
              <a:rPr lang="en-US" sz="2000" smtClean="0"/>
              <a:t>bidirectională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GPT</a:t>
            </a:r>
            <a:r>
              <a:rPr lang="en-US" sz="2000"/>
              <a:t>: Generare text [9]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33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4.2–4.3. Zero-Shot &amp; MMS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Zero-Shot</a:t>
            </a:r>
            <a:r>
              <a:rPr lang="en-US" sz="2000" smtClean="0"/>
              <a:t>:</a:t>
            </a:r>
            <a:r>
              <a:rPr lang="ro-RO" sz="2000" smtClean="0"/>
              <a:t> </a:t>
            </a:r>
            <a:r>
              <a:rPr lang="en-US" sz="2000" smtClean="0"/>
              <a:t>Capacitatea </a:t>
            </a:r>
            <a:r>
              <a:rPr lang="en-US" sz="2000"/>
              <a:t>modelului de a rezolva o sarcină nouă fără antrenare specifică (transfer de cunoștințe</a:t>
            </a:r>
            <a:r>
              <a:rPr lang="en-US" sz="2000" smtClean="0"/>
              <a:t>)</a:t>
            </a:r>
            <a:r>
              <a:rPr lang="ro-RO" sz="2000" smtClean="0"/>
              <a:t> </a:t>
            </a:r>
            <a:r>
              <a:rPr lang="en-US" sz="2000"/>
              <a:t>[3]</a:t>
            </a:r>
            <a:r>
              <a:rPr lang="en-US" sz="2000" smtClean="0"/>
              <a:t>.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MMS</a:t>
            </a:r>
            <a:r>
              <a:rPr lang="ro-RO" sz="2000" smtClean="0"/>
              <a:t> </a:t>
            </a:r>
            <a:r>
              <a:rPr lang="en-US" sz="2000"/>
              <a:t>(Massively Multilingual Speech</a:t>
            </a:r>
            <a:r>
              <a:rPr lang="en-US" sz="2000" smtClean="0"/>
              <a:t>)</a:t>
            </a:r>
            <a:r>
              <a:rPr lang="ro-RO" sz="2000" smtClean="0"/>
              <a:t> de la Meta AI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1,1M ore </a:t>
            </a:r>
            <a:r>
              <a:rPr lang="en-US" sz="2000" smtClean="0"/>
              <a:t>audio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1.100 </a:t>
            </a:r>
            <a:r>
              <a:rPr lang="en-US" sz="2000" smtClean="0"/>
              <a:t>limbi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Antrenat pe Biblie [3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ASR română fără date românești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9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/>
              <a:t>5. Aplicații Practice ale IA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Recunoașterea </a:t>
            </a:r>
            <a:r>
              <a:rPr lang="ro-RO" sz="2000" b="1" smtClean="0"/>
              <a:t>a</a:t>
            </a:r>
            <a:r>
              <a:rPr lang="en-US" sz="2000" b="1" smtClean="0"/>
              <a:t>utomată </a:t>
            </a:r>
            <a:r>
              <a:rPr lang="ro-RO" sz="2000" b="1" smtClean="0"/>
              <a:t>a</a:t>
            </a:r>
            <a:r>
              <a:rPr lang="en-US" sz="2000" b="1" smtClean="0"/>
              <a:t> </a:t>
            </a:r>
            <a:r>
              <a:rPr lang="ro-RO" sz="2000" b="1" smtClean="0"/>
              <a:t>v</a:t>
            </a:r>
            <a:r>
              <a:rPr lang="en-US" sz="2000" b="1" smtClean="0"/>
              <a:t>orbirii</a:t>
            </a:r>
            <a:r>
              <a:rPr lang="en-US" sz="2000" smtClean="0"/>
              <a:t> (</a:t>
            </a:r>
            <a:r>
              <a:rPr lang="en-US" sz="2000"/>
              <a:t>ASR</a:t>
            </a:r>
            <a:r>
              <a:rPr lang="en-US" sz="2000" smtClean="0"/>
              <a:t>):</a:t>
            </a:r>
            <a:r>
              <a:rPr lang="ro-RO" sz="2000" smtClean="0"/>
              <a:t> </a:t>
            </a:r>
            <a:r>
              <a:rPr lang="en-US" sz="2000" smtClean="0"/>
              <a:t>Conversia </a:t>
            </a:r>
            <a:r>
              <a:rPr lang="en-US" sz="2000"/>
              <a:t>Vorbirii în Text. 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Componente</a:t>
            </a:r>
            <a:r>
              <a:rPr lang="en-US" sz="2000"/>
              <a:t>: Model Acustic și Model Lingvistic</a:t>
            </a:r>
            <a:r>
              <a:rPr lang="en-US" sz="2000" smtClean="0"/>
              <a:t>.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Aplicații</a:t>
            </a:r>
            <a:r>
              <a:rPr lang="en-US" sz="2000"/>
              <a:t>: Asistenți vocali, transcriere live</a:t>
            </a:r>
            <a:r>
              <a:rPr lang="en-US" sz="2000" smtClean="0"/>
              <a:t>.</a:t>
            </a: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ro-RO" sz="2000" b="1" smtClean="0"/>
              <a:t>P</a:t>
            </a:r>
            <a:r>
              <a:rPr lang="en-US" sz="2000" b="1" smtClean="0"/>
              <a:t>rocesarea limbajului natural </a:t>
            </a:r>
            <a:r>
              <a:rPr lang="en-US" sz="2000" smtClean="0"/>
              <a:t>(</a:t>
            </a:r>
            <a:r>
              <a:rPr lang="en-US" sz="2000"/>
              <a:t>NLP</a:t>
            </a:r>
            <a:r>
              <a:rPr lang="en-US" sz="2000" smtClean="0"/>
              <a:t>):</a:t>
            </a:r>
            <a:r>
              <a:rPr lang="ro-RO" sz="2000" smtClean="0"/>
              <a:t> </a:t>
            </a:r>
          </a:p>
          <a:p>
            <a:pPr marL="0" indent="0">
              <a:buNone/>
            </a:pPr>
            <a:r>
              <a:rPr lang="en-US" sz="2000" smtClean="0"/>
              <a:t>Înțelegere</a:t>
            </a:r>
            <a:r>
              <a:rPr lang="en-US" sz="2000"/>
              <a:t>, interpretare și generare de limbaj (Traducere, Chatboți, Analiza sentimentului</a:t>
            </a:r>
            <a:r>
              <a:rPr lang="en-US" sz="2000" smtClean="0"/>
              <a:t>).</a:t>
            </a: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ro-RO" sz="2000" b="1" smtClean="0"/>
              <a:t>V</a:t>
            </a:r>
            <a:r>
              <a:rPr lang="en-US" sz="2000" b="1" smtClean="0"/>
              <a:t>iziunea computerizată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Permite </a:t>
            </a:r>
            <a:r>
              <a:rPr lang="en-US" sz="2000"/>
              <a:t>mașinilor să "vadă" și să analizeze imagini/video (Detecție de obiecte, Diagnoze medicale).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5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6.1. ASR în română – Provocări low-resource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smtClean="0"/>
              <a:t>24</a:t>
            </a:r>
            <a:r>
              <a:rPr lang="ro-RO" sz="2000" smtClean="0"/>
              <a:t> milioane</a:t>
            </a:r>
            <a:r>
              <a:rPr lang="en-US" sz="2000" smtClean="0"/>
              <a:t> vorbitori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/>
              <a:t>Common Voice Scripted Speech 23.0 - Romanian</a:t>
            </a:r>
            <a:r>
              <a:rPr lang="en-US" sz="2000" smtClean="0"/>
              <a:t>: Principala sursă [11]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Probleme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Diacritice: ș, ț, ă, î, </a:t>
            </a:r>
            <a:r>
              <a:rPr lang="en-US" sz="2000" smtClean="0"/>
              <a:t>â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Dialecte </a:t>
            </a:r>
            <a:r>
              <a:rPr lang="en-US" sz="2000" smtClean="0"/>
              <a:t>regionale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Fără language model robust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02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6.3. Evaluare – WER 7.18%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Set</a:t>
            </a:r>
            <a:r>
              <a:rPr lang="en-US" sz="2000" smtClean="0"/>
              <a:t>: 1000 propoziții Common Voice 23.0 [11]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WER</a:t>
            </a:r>
            <a:r>
              <a:rPr lang="en-US" sz="2000" smtClean="0"/>
              <a:t> </a:t>
            </a:r>
            <a:r>
              <a:rPr lang="en-US" sz="2000"/>
              <a:t>= (S + D + I) / </a:t>
            </a:r>
            <a:r>
              <a:rPr lang="en-US" sz="2000" smtClean="0"/>
              <a:t>N</a:t>
            </a:r>
            <a:endParaRPr lang="ro-RO" sz="2000" smtClean="0"/>
          </a:p>
          <a:p>
            <a:pPr marL="0" indent="0">
              <a:buNone/>
            </a:pPr>
            <a:r>
              <a:rPr lang="ro-RO" sz="2000"/>
              <a:t>Word Error Rate (Rata de </a:t>
            </a:r>
            <a:r>
              <a:rPr lang="ro-RO" sz="2000" smtClean="0"/>
              <a:t>eroare </a:t>
            </a:r>
            <a:r>
              <a:rPr lang="ro-RO" sz="2000"/>
              <a:t>pe cuvânt): cea mai importantă metrică folosită pentru a evalua performanța unui sistem de recunoaștere automată a vorbirii</a:t>
            </a:r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Rezultate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Zero-shot: ~26% [</a:t>
            </a:r>
            <a:r>
              <a:rPr lang="en-US" sz="2000" smtClean="0"/>
              <a:t>3] [16]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Transfer ponderi: </a:t>
            </a:r>
            <a:r>
              <a:rPr lang="en-US" sz="2000" b="1"/>
              <a:t>7.18%</a:t>
            </a:r>
            <a:r>
              <a:rPr lang="en-US" sz="2000"/>
              <a:t> [13]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/>
              <a:t>6.5. Corecție autonomă – WER 5.89%</a:t>
            </a:r>
            <a:endParaRPr lang="it-IT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/>
              <a:t>Dicționar: 706.463 forme (</a:t>
            </a:r>
            <a:r>
              <a:rPr lang="en-US" sz="2000" b="1"/>
              <a:t>DEXonline + LOC-5</a:t>
            </a:r>
            <a:r>
              <a:rPr lang="en-US" sz="2000"/>
              <a:t>) [14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Logica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Invalid în dicționar + corect în referință → </a:t>
            </a:r>
            <a:r>
              <a:rPr lang="en-US" sz="2000" smtClean="0"/>
              <a:t>învață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Valid → </a:t>
            </a:r>
            <a:r>
              <a:rPr lang="en-US" sz="2000" smtClean="0"/>
              <a:t>blocare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Rezultate</a:t>
            </a:r>
            <a:r>
              <a:rPr lang="en-US" sz="2000" smtClean="0"/>
              <a:t>:</a:t>
            </a:r>
            <a:endParaRPr lang="ro-RO" sz="2000" smtClean="0"/>
          </a:p>
          <a:p>
            <a:pPr marL="0" indent="0">
              <a:buNone/>
            </a:pPr>
            <a:r>
              <a:rPr lang="en-US" sz="2000" smtClean="0"/>
              <a:t>• </a:t>
            </a:r>
            <a:r>
              <a:rPr lang="en-US" sz="2000"/>
              <a:t>7.18% → </a:t>
            </a:r>
            <a:r>
              <a:rPr lang="en-US" sz="2000" b="1"/>
              <a:t>5.89%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7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6.4. Aplicație real-time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/>
              <a:t>Python: Microfon → transcriere </a:t>
            </a:r>
            <a:r>
              <a:rPr lang="en-US" sz="2000" smtClean="0"/>
              <a:t>instant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smtClean="0"/>
              <a:t>Exemplu</a:t>
            </a:r>
            <a:r>
              <a:rPr lang="en-US" sz="2000"/>
              <a:t>: „bună, ce mai faci?” → „bună, ce mai faci</a:t>
            </a:r>
            <a:r>
              <a:rPr lang="en-US" sz="2000" smtClean="0"/>
              <a:t>?”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smtClean="0"/>
              <a:t>Latență</a:t>
            </a:r>
            <a:r>
              <a:rPr lang="en-US" sz="2000"/>
              <a:t>: &lt;1 secundă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6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7. Concluzii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/>
              <a:t>Studiul de caz a confirmat potențialul modelului multilingv MMS pentru Recunoașterea Automată a Vorbirii (ASR) în limba română, o limbă cu resurse reduse</a:t>
            </a:r>
            <a:r>
              <a:rPr lang="en-US" sz="2000" smtClean="0"/>
              <a:t>.</a:t>
            </a:r>
            <a:endParaRPr lang="ro-RO" sz="2000" smtClean="0"/>
          </a:p>
          <a:p>
            <a:pPr marL="0" indent="0">
              <a:buNone/>
            </a:pPr>
            <a:endParaRPr lang="ro-RO" sz="200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smtClean="0"/>
              <a:t>Implementarea </a:t>
            </a:r>
            <a:r>
              <a:rPr lang="en-US" sz="2000"/>
              <a:t>modelului specializat a atins un WER inițial de 7.18%. 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smtClean="0"/>
              <a:t>Contribuția </a:t>
            </a:r>
            <a:r>
              <a:rPr lang="en-US" sz="2000"/>
              <a:t>majoră a fost dezvoltarea sistemului autonom de corecție lexicală, care a îmbunătățit semnificativ această performanță. Acest sistem a validat că optimizările inteligente la nivel lingvistic pot duce la un WER final stabil de </a:t>
            </a:r>
            <a:r>
              <a:rPr lang="en-US" sz="2000" b="1"/>
              <a:t>5.89%</a:t>
            </a:r>
            <a:r>
              <a:rPr lang="en-US" sz="2000"/>
              <a:t> fără a necesita reantrenarea costisitoare a modelului de bază.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8. Perspective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/>
              <a:t>Neuralink</a:t>
            </a:r>
            <a:r>
              <a:rPr lang="en-US" sz="2000"/>
              <a:t>: Control proteze [16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VR/AR </a:t>
            </a:r>
            <a:r>
              <a:rPr lang="en-US" sz="2000" b="1"/>
              <a:t>+ IA</a:t>
            </a:r>
            <a:r>
              <a:rPr lang="en-US" sz="2000"/>
              <a:t>: Retenție ↑75% [16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Agentic </a:t>
            </a:r>
            <a:r>
              <a:rPr lang="en-US" sz="2000" b="1"/>
              <a:t>AI</a:t>
            </a:r>
            <a:r>
              <a:rPr lang="en-US" sz="2000"/>
              <a:t>: Planificare autonomă [16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Small </a:t>
            </a:r>
            <a:r>
              <a:rPr lang="en-US" sz="2000" b="1"/>
              <a:t>models</a:t>
            </a:r>
            <a:r>
              <a:rPr lang="en-US" sz="2000"/>
              <a:t>: Pe mobil [16</a:t>
            </a:r>
            <a:r>
              <a:rPr lang="en-US" sz="2000" smtClean="0"/>
              <a:t>]</a:t>
            </a: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smtClean="0"/>
              <a:t>Viitor</a:t>
            </a:r>
            <a:r>
              <a:rPr lang="en-US" sz="2000"/>
              <a:t>: „Colaborare om-mașină” [5]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91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9. Bibliografie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44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/>
              <a:t>[1] J. McCarthy, “What is Artificial Intelligence?,” Stanford University, Stanford, CA, USA, 2004. [Online]. Available: http://jmc.stanford.edu/artificial-intelligence/what-is-ai/. Accessed: Nov. 12, 2025.</a:t>
            </a:r>
          </a:p>
          <a:p>
            <a:pPr marL="0" indent="0">
              <a:buNone/>
            </a:pPr>
            <a:r>
              <a:rPr lang="en-US" sz="1100"/>
              <a:t>[2] I. Goodfellow, Y. Bengio, and A. Courville, Deep Learning. Cambridge, MA, USA: MIT Press, 2016.</a:t>
            </a:r>
          </a:p>
          <a:p>
            <a:pPr marL="0" indent="0">
              <a:buNone/>
            </a:pPr>
            <a:r>
              <a:rPr lang="en-US" sz="1100"/>
              <a:t>[3] Meta AI, “Scaling Speech Technology to 1,000+ Languages,” Meta AI Research, 2023. [Online]. Available: https://ai.meta.com/blog/multilingual-model-speech-recognition/. Accessed: Nov. 12, 2025.</a:t>
            </a:r>
          </a:p>
          <a:p>
            <a:pPr marL="0" indent="0">
              <a:buNone/>
            </a:pPr>
            <a:r>
              <a:rPr lang="en-US" sz="1100"/>
              <a:t>[4] A. M. Turing, “Computing Machinery and Intelligence,” Mind, vol. 59, no. 236, pp. 433–460, Oct. 1950.</a:t>
            </a:r>
          </a:p>
          <a:p>
            <a:pPr marL="0" indent="0">
              <a:buNone/>
            </a:pPr>
            <a:r>
              <a:rPr lang="en-US" sz="1100"/>
              <a:t>[5] S. Russell and P. Norvig, Artificial Intelligence: A Modern Approach, 4th ed. Hoboken, NJ, USA: Pearson, 2020.</a:t>
            </a:r>
          </a:p>
          <a:p>
            <a:pPr marL="0" indent="0">
              <a:buNone/>
            </a:pPr>
            <a:r>
              <a:rPr lang="en-US" sz="1100"/>
              <a:t>[6] Y. LeCun, Y. Bengio, and G. Hinton, “Deep Learning,” Nature, vol. 521, no. 7553, pp. 436–444, May 2015.</a:t>
            </a:r>
          </a:p>
          <a:p>
            <a:pPr marL="0" indent="0">
              <a:buNone/>
            </a:pPr>
            <a:r>
              <a:rPr lang="en-US" sz="1100"/>
              <a:t>[7] W. S. McCulloch and W. Pitts, “A Logical Calculus of the Ideas Immanent in Nervous Activity,” Bulletin of Mathematical Biophysics, vol. 5, no. 4, pp. 115–133, Dec. 1943.</a:t>
            </a:r>
          </a:p>
          <a:p>
            <a:pPr marL="0" indent="0">
              <a:buNone/>
            </a:pPr>
            <a:r>
              <a:rPr lang="en-US" sz="1100"/>
              <a:t>[8] D. Silver et al., “Mastering the Game of Go with Deep Neural Networks and Tree Search,” Nature, vol. 529, no. 7587, pp. 484–489, Jan. 2016.</a:t>
            </a:r>
          </a:p>
          <a:p>
            <a:pPr marL="0" indent="0">
              <a:buNone/>
            </a:pPr>
            <a:r>
              <a:rPr lang="en-US" sz="1100"/>
              <a:t>[9] A. Vaswani et al., “Attention is All You Need,” in Proc. 31st Conf. Neural Inf. Process. Syst. (NeurIPS), Dec. 2017, pp. 5998–6008.</a:t>
            </a:r>
          </a:p>
          <a:p>
            <a:pPr marL="0" indent="0">
              <a:buNone/>
            </a:pPr>
            <a:r>
              <a:rPr lang="en-US" sz="1100"/>
              <a:t>[10] A. Baevski et al., “wav2vec 2.0: A Framework for Self-Supervised Learning of Speech Representations,” in Proc. 33rd Conf. Neural Inf. Process. Syst. (NeurIPS), Dec. 2020.</a:t>
            </a:r>
          </a:p>
          <a:p>
            <a:pPr marL="0" indent="0">
              <a:buNone/>
            </a:pPr>
            <a:r>
              <a:rPr lang="en-US" sz="1100"/>
              <a:t>[11] Mozilla Foundation, “Common Voice Dataset,” Mozilla Foundation, 2025. [Online]. Available: https://datacollective.mozillafoundation.org/datasets/cmflnuzw788wfzzhnv1wim44fc. Accessed: Nov. 12, 2025.</a:t>
            </a:r>
          </a:p>
          <a:p>
            <a:pPr marL="0" indent="0">
              <a:buNone/>
            </a:pPr>
            <a:r>
              <a:rPr lang="en-US" sz="1100"/>
              <a:t>[12] Hugging Face, “facebook/mms-1b,” Hugging Face Hub. [Online]. Available: https://huggingface.co/facebook/mms-1b. Accessed: Nov. 12, 2025.</a:t>
            </a:r>
          </a:p>
          <a:p>
            <a:pPr marL="0" indent="0">
              <a:buNone/>
            </a:pPr>
            <a:r>
              <a:rPr lang="en-US" sz="1100"/>
              <a:t>[13] Hugging Face, “facebook/mms-1b-all,” Hugging Face Hub. [Online]. Available: https://huggingface.co/facebook/mms-1b-all. Accessed: Nov. 12, 2025.</a:t>
            </a:r>
          </a:p>
          <a:p>
            <a:pPr marL="0" indent="0">
              <a:buNone/>
            </a:pPr>
            <a:r>
              <a:rPr lang="en-US" sz="1100"/>
              <a:t>[14] DEXonline, “Lista oficială LOC-5,” 2025. [Online]. Available: https://dexonline.ro/download/scrabble/loc5.txt. Accessed: Nov. 14, 2025.</a:t>
            </a:r>
          </a:p>
          <a:p>
            <a:pPr marL="0" indent="0">
              <a:buNone/>
            </a:pPr>
            <a:r>
              <a:rPr lang="en-US" sz="1100"/>
              <a:t>[15] J. Zhao, V. Pratap, and M. Auli, “Scaling a Simple Approach to Zero-Shot Speech Recognition,” arXiv preprint arXiv:2407.17852, 2024. [Online]. Available: https://arxiv.org/abs/2407.17852. Accessed: Nov. 14, 2025.</a:t>
            </a:r>
          </a:p>
          <a:p>
            <a:pPr marL="0" indent="0">
              <a:buNone/>
            </a:pPr>
            <a:r>
              <a:rPr lang="en-US" sz="1100"/>
              <a:t>[16] Stanford Human-Centered Artificial Intelligence (HAI), “The 2025 AI Index Report,” Stanford HAI, 2025. [Online]. Available: https://hai.stanford.edu/ai-index/2025-ai-index-report. Accessed: Nov. 12, 2025.</a:t>
            </a:r>
          </a:p>
          <a:p>
            <a:pPr marL="0" indent="0">
              <a:buNone/>
            </a:pPr>
            <a:endParaRPr lang="en-US" sz="1050" b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51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Mulțumesc pentru atenție!</a:t>
            </a:r>
            <a:endParaRPr lang="en-US" sz="3200">
              <a:effectLst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smtClean="0"/>
              <a:t>Întrebări?</a:t>
            </a:r>
            <a:r>
              <a:rPr lang="ro-RO" sz="2400" b="1" smtClean="0"/>
              <a:t> </a:t>
            </a:r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r>
              <a:rPr lang="en-US" sz="1800" smtClean="0"/>
              <a:t>Sau </a:t>
            </a:r>
            <a:r>
              <a:rPr lang="en-US" sz="1800"/>
              <a:t>pot să vă transcriu răspunsurile în română cu WER 5.89% </a:t>
            </a:r>
            <a:r>
              <a:rPr lang="en-US" sz="1800" smtClean="0"/>
              <a:t>😄</a:t>
            </a:r>
            <a:endParaRPr lang="ro-RO" sz="18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 smtClean="0"/>
          </a:p>
          <a:p>
            <a:pPr marL="0" indent="0">
              <a:buNone/>
            </a:pPr>
            <a:endParaRPr lang="ro-RO" sz="2000"/>
          </a:p>
          <a:p>
            <a:pPr marL="0" indent="0">
              <a:buNone/>
            </a:pPr>
            <a:r>
              <a:rPr lang="en-US" sz="1800" smtClean="0"/>
              <a:t>P.S</a:t>
            </a:r>
            <a:r>
              <a:rPr lang="en-US" sz="1800"/>
              <a:t>.: Dacă modelul greșește „mulțumesc” → „mulțumes”, corecția autonomă îl repară instant!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1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1564</Words>
  <Application>Microsoft Office PowerPoint</Application>
  <PresentationFormat>On-screen Show (4:3)</PresentationFormat>
  <Paragraphs>188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 Theme</vt:lpstr>
      <vt:lpstr>Inteligența artificială și Învățarea automată</vt:lpstr>
      <vt:lpstr>1. Introducere – Obiectivele specifice ale lucrării</vt:lpstr>
      <vt:lpstr>2.1. Definirea IA – De la Turing la AGI</vt:lpstr>
      <vt:lpstr>2.2. Istoria IA – 1943 → 2025</vt:lpstr>
      <vt:lpstr>3.1. Paradigme ML</vt:lpstr>
      <vt:lpstr>3.2. Algoritmi clasici</vt:lpstr>
      <vt:lpstr>3.3. Deep Learning</vt:lpstr>
      <vt:lpstr>4.1. Arhitectura Transformer</vt:lpstr>
      <vt:lpstr>4.2–4.3. Zero-Shot &amp; MMS</vt:lpstr>
      <vt:lpstr>5. Aplicații Practice ale IA</vt:lpstr>
      <vt:lpstr>6.1. ASR în română – Provocări low-resource</vt:lpstr>
      <vt:lpstr>6.3. Evaluare – WER 7.18%</vt:lpstr>
      <vt:lpstr>6.5. Corecție autonomă – WER 5.89%</vt:lpstr>
      <vt:lpstr>6.4. Aplicație real-time</vt:lpstr>
      <vt:lpstr>7. Concluzii</vt:lpstr>
      <vt:lpstr>8. Perspective</vt:lpstr>
      <vt:lpstr>9. Bibliografie</vt:lpstr>
      <vt:lpstr>Mulțumesc pentru atenție!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Inteligența artificială și Învățarea automată</dc:title>
  <dc:subject/>
  <dc:creator>Cody</dc:creator>
  <cp:keywords/>
  <dc:description>generated using python-pptx</dc:description>
  <cp:lastModifiedBy>Cody</cp:lastModifiedBy>
  <cp:revision>27</cp:revision>
  <dcterms:created xsi:type="dcterms:W3CDTF">2013-01-27T09:14:16Z</dcterms:created>
  <dcterms:modified xsi:type="dcterms:W3CDTF">2025-12-10T22:43:38Z</dcterms:modified>
  <cp:category/>
</cp:coreProperties>
</file>